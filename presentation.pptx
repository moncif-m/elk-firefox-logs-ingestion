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Default Extension="png" ContentType="image/png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Default Extension="jpg" ContentType="image/jpg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5765800" cy="3244850"/>
  <p:notesSz cx="5765800" cy="324485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32167" y="768056"/>
            <a:ext cx="3901465" cy="4032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#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#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#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#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#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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-12"/>
            <a:ext cx="5760085" cy="350520"/>
          </a:xfrm>
          <a:custGeom>
            <a:avLst/>
            <a:gdLst/>
            <a:ahLst/>
            <a:cxnLst/>
            <a:rect l="l" t="t" r="r" b="b"/>
            <a:pathLst>
              <a:path w="5760085" h="350520">
                <a:moveTo>
                  <a:pt x="5759996" y="0"/>
                </a:moveTo>
                <a:lnTo>
                  <a:pt x="0" y="0"/>
                </a:lnTo>
                <a:lnTo>
                  <a:pt x="0" y="350126"/>
                </a:lnTo>
                <a:lnTo>
                  <a:pt x="5759996" y="350126"/>
                </a:lnTo>
                <a:lnTo>
                  <a:pt x="5759996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5300" y="59877"/>
            <a:ext cx="2444115" cy="2444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9667" y="903386"/>
            <a:ext cx="2411730" cy="14662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5438089" y="3125241"/>
            <a:ext cx="254000" cy="1022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#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
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image" Target="../media/image4.png"/><Relationship Id="rId9" Type="http://schemas.openxmlformats.org/officeDocument/2006/relationships/slide" Target="slide6.xml"/><Relationship Id="rId10" Type="http://schemas.openxmlformats.org/officeDocument/2006/relationships/image" Target="../media/image5.png"/><Relationship Id="rId11" Type="http://schemas.openxmlformats.org/officeDocument/2006/relationships/slide" Target="slide7.xml"/><Relationship Id="rId12" Type="http://schemas.openxmlformats.org/officeDocument/2006/relationships/image" Target="../media/image6.png"/><Relationship Id="rId13" Type="http://schemas.openxmlformats.org/officeDocument/2006/relationships/slide" Target="slide16.xml"/><Relationship Id="rId14" Type="http://schemas.openxmlformats.org/officeDocument/2006/relationships/image" Target="../media/image7.png"/><Relationship Id="rId15" Type="http://schemas.openxmlformats.org/officeDocument/2006/relationships/slide" Target="slide17.xml"/><Relationship Id="rId16" Type="http://schemas.openxmlformats.org/officeDocument/2006/relationships/image" Target="../media/image8.png"/><Relationship Id="rId17" Type="http://schemas.openxmlformats.org/officeDocument/2006/relationships/slide" Target="slide19.xml"/></Relationships>
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
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
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
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4.jpg"/></Relationships>
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.png"/><Relationship Id="rId3" Type="http://schemas.openxmlformats.org/officeDocument/2006/relationships/image" Target="../media/image26.jpg"/></Relationships>
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/Relationships>
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png"/></Relationships>
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Relationship Id="rId3" Type="http://schemas.openxmlformats.org/officeDocument/2006/relationships/image" Target="../media/image31.png"/></Relationships>
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/Relationships>
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/Relationships>
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5.jpg"/></Relationships>
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6.jpg"/><Relationship Id="rId3" Type="http://schemas.openxmlformats.org/officeDocument/2006/relationships/image" Target="../media/image37.png"/></Relationships>
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8.jpg"/></Relationships>
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
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image" Target="../media/image51.png"/></Relationships>
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Relationship Id="rId8" Type="http://schemas.openxmlformats.org/officeDocument/2006/relationships/image" Target="../media/image58.png"/><Relationship Id="rId9" Type="http://schemas.openxmlformats.org/officeDocument/2006/relationships/image" Target="../media/image59.png"/></Relationships>
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65.png"/><Relationship Id="rId8" Type="http://schemas.openxmlformats.org/officeDocument/2006/relationships/image" Target="../media/image66.png"/><Relationship Id="rId9" Type="http://schemas.openxmlformats.org/officeDocument/2006/relationships/image" Target="../media/image67.png"/><Relationship Id="rId10" Type="http://schemas.openxmlformats.org/officeDocument/2006/relationships/image" Target="../media/image68.png"/></Relationships>
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
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4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87743" y="427443"/>
            <a:ext cx="5635625" cy="711200"/>
            <a:chOff x="87743" y="427443"/>
            <a:chExt cx="5635625" cy="711200"/>
          </a:xfrm>
        </p:grpSpPr>
        <p:sp>
          <p:nvSpPr>
            <p:cNvPr id="3" name="object 3"/>
            <p:cNvSpPr/>
            <p:nvPr/>
          </p:nvSpPr>
          <p:spPr>
            <a:xfrm>
              <a:off x="87743" y="427443"/>
              <a:ext cx="5584825" cy="82550"/>
            </a:xfrm>
            <a:custGeom>
              <a:avLst/>
              <a:gdLst/>
              <a:ahLst/>
              <a:cxnLst/>
              <a:rect l="l" t="t" r="r" b="b"/>
              <a:pathLst>
                <a:path w="5584825" h="82550">
                  <a:moveTo>
                    <a:pt x="5533779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5584580" y="82384"/>
                  </a:lnTo>
                  <a:lnTo>
                    <a:pt x="5584580" y="50800"/>
                  </a:lnTo>
                  <a:lnTo>
                    <a:pt x="5580571" y="31075"/>
                  </a:lnTo>
                  <a:lnTo>
                    <a:pt x="5569657" y="14922"/>
                  </a:lnTo>
                  <a:lnTo>
                    <a:pt x="5553504" y="4008"/>
                  </a:lnTo>
                  <a:lnTo>
                    <a:pt x="5533779" y="0"/>
                  </a:lnTo>
                  <a:close/>
                </a:path>
              </a:pathLst>
            </a:custGeom>
            <a:solidFill>
              <a:srgbClr val="3333B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" name="object 4"/>
            <p:cNvSpPr/>
            <p:nvPr/>
          </p:nvSpPr>
          <p:spPr>
            <a:xfrm>
              <a:off x="138544" y="490704"/>
              <a:ext cx="5584825" cy="647700"/>
            </a:xfrm>
            <a:custGeom>
              <a:avLst/>
              <a:gdLst/>
              <a:ahLst/>
              <a:cxnLst/>
              <a:rect l="l" t="t" r="r" b="b"/>
              <a:pathLst>
                <a:path w="5584825" h="647700">
                  <a:moveTo>
                    <a:pt x="5584580" y="0"/>
                  </a:moveTo>
                  <a:lnTo>
                    <a:pt x="0" y="0"/>
                  </a:lnTo>
                  <a:lnTo>
                    <a:pt x="0" y="647343"/>
                  </a:lnTo>
                  <a:lnTo>
                    <a:pt x="5584580" y="647343"/>
                  </a:lnTo>
                  <a:lnTo>
                    <a:pt x="558458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87743" y="471867"/>
              <a:ext cx="5584825" cy="615950"/>
            </a:xfrm>
            <a:custGeom>
              <a:avLst/>
              <a:gdLst/>
              <a:ahLst/>
              <a:cxnLst/>
              <a:rect l="l" t="t" r="r" b="b"/>
              <a:pathLst>
                <a:path w="5584825" h="615950">
                  <a:moveTo>
                    <a:pt x="5584580" y="0"/>
                  </a:moveTo>
                  <a:lnTo>
                    <a:pt x="0" y="0"/>
                  </a:lnTo>
                  <a:lnTo>
                    <a:pt x="0" y="564579"/>
                  </a:lnTo>
                  <a:lnTo>
                    <a:pt x="4008" y="584304"/>
                  </a:lnTo>
                  <a:lnTo>
                    <a:pt x="14922" y="600456"/>
                  </a:lnTo>
                  <a:lnTo>
                    <a:pt x="31075" y="611371"/>
                  </a:lnTo>
                  <a:lnTo>
                    <a:pt x="50800" y="615379"/>
                  </a:lnTo>
                  <a:lnTo>
                    <a:pt x="5533779" y="615379"/>
                  </a:lnTo>
                  <a:lnTo>
                    <a:pt x="5553504" y="611371"/>
                  </a:lnTo>
                  <a:lnTo>
                    <a:pt x="5569657" y="600456"/>
                  </a:lnTo>
                  <a:lnTo>
                    <a:pt x="5580571" y="584304"/>
                  </a:lnTo>
                  <a:lnTo>
                    <a:pt x="5584580" y="564579"/>
                  </a:lnTo>
                  <a:lnTo>
                    <a:pt x="5584580" y="0"/>
                  </a:lnTo>
                  <a:close/>
                </a:path>
              </a:pathLst>
            </a:custGeom>
            <a:solidFill>
              <a:srgbClr val="3333B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/>
          <p:nvPr/>
        </p:nvSpPr>
        <p:spPr>
          <a:xfrm>
            <a:off x="138544" y="490704"/>
            <a:ext cx="5584825" cy="647700"/>
          </a:xfrm>
          <a:prstGeom prst="rect">
            <a:avLst/>
          </a:prstGeom>
        </p:spPr>
        <p:txBody>
          <a:bodyPr wrap="square" lIns="0" tIns="56515" rIns="0" bIns="0" rtlCol="0" vert="horz">
            <a:spAutoFit/>
          </a:bodyPr>
          <a:lstStyle/>
          <a:p>
            <a:pPr algn="ctr" marR="93980">
              <a:lnSpc>
                <a:spcPct val="100000"/>
              </a:lnSpc>
              <a:spcBef>
                <a:spcPts val="445"/>
              </a:spcBef>
            </a:pPr>
            <a:r>
              <a:rPr dirty="0" sz="1400" spc="-35">
                <a:solidFill>
                  <a:srgbClr val="FFFFFF"/>
                </a:solidFill>
                <a:latin typeface="Tahoma"/>
                <a:cs typeface="Tahoma"/>
              </a:rPr>
              <a:t>Analyse</a:t>
            </a:r>
            <a:r>
              <a:rPr dirty="0" sz="1400" spc="-5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>
                <a:solidFill>
                  <a:srgbClr val="FFFFFF"/>
                </a:solidFill>
                <a:latin typeface="Tahoma"/>
                <a:cs typeface="Tahoma"/>
              </a:rPr>
              <a:t>et</a:t>
            </a:r>
            <a:r>
              <a:rPr dirty="0" sz="1400" spc="-45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 spc="-25">
                <a:solidFill>
                  <a:srgbClr val="FFFFFF"/>
                </a:solidFill>
                <a:latin typeface="Tahoma"/>
                <a:cs typeface="Tahoma"/>
              </a:rPr>
              <a:t>Visualisation</a:t>
            </a:r>
            <a:r>
              <a:rPr dirty="0" sz="1400" spc="-5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 spc="-60">
                <a:solidFill>
                  <a:srgbClr val="FFFFFF"/>
                </a:solidFill>
                <a:latin typeface="Tahoma"/>
                <a:cs typeface="Tahoma"/>
              </a:rPr>
              <a:t>des</a:t>
            </a:r>
            <a:r>
              <a:rPr dirty="0" sz="1400" spc="-45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 spc="-20">
                <a:solidFill>
                  <a:srgbClr val="FFFFFF"/>
                </a:solidFill>
                <a:latin typeface="Tahoma"/>
                <a:cs typeface="Tahoma"/>
              </a:rPr>
              <a:t>Logs</a:t>
            </a:r>
            <a:r>
              <a:rPr dirty="0" sz="1400" spc="-45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 spc="-10">
                <a:solidFill>
                  <a:srgbClr val="FFFFFF"/>
                </a:solidFill>
                <a:latin typeface="Tahoma"/>
                <a:cs typeface="Tahoma"/>
              </a:rPr>
              <a:t>Firefox</a:t>
            </a:r>
            <a:endParaRPr sz="1400">
              <a:latin typeface="Tahoma"/>
              <a:cs typeface="Tahoma"/>
            </a:endParaRPr>
          </a:p>
          <a:p>
            <a:pPr algn="ctr" marR="93345">
              <a:lnSpc>
                <a:spcPct val="100000"/>
              </a:lnSpc>
              <a:spcBef>
                <a:spcPts val="325"/>
              </a:spcBef>
            </a:pPr>
            <a:r>
              <a:rPr dirty="0" sz="1100" spc="-10">
                <a:solidFill>
                  <a:srgbClr val="FFFFFF"/>
                </a:solidFill>
                <a:latin typeface="Tahoma"/>
                <a:cs typeface="Tahoma"/>
              </a:rPr>
              <a:t>Utilisation</a:t>
            </a:r>
            <a:r>
              <a:rPr dirty="0" sz="1100" spc="-4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100" spc="-35">
                <a:solidFill>
                  <a:srgbClr val="FFFFFF"/>
                </a:solidFill>
                <a:latin typeface="Tahoma"/>
                <a:cs typeface="Tahoma"/>
              </a:rPr>
              <a:t>de</a:t>
            </a:r>
            <a:r>
              <a:rPr dirty="0" sz="1100" spc="-4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100">
                <a:solidFill>
                  <a:srgbClr val="FFFFFF"/>
                </a:solidFill>
                <a:latin typeface="Tahoma"/>
                <a:cs typeface="Tahoma"/>
              </a:rPr>
              <a:t>la</a:t>
            </a:r>
            <a:r>
              <a:rPr dirty="0" sz="1100" spc="-35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100">
                <a:solidFill>
                  <a:srgbClr val="FFFFFF"/>
                </a:solidFill>
                <a:latin typeface="Tahoma"/>
                <a:cs typeface="Tahoma"/>
              </a:rPr>
              <a:t>Stack</a:t>
            </a:r>
            <a:r>
              <a:rPr dirty="0" sz="1100" spc="-4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100" spc="35">
                <a:solidFill>
                  <a:srgbClr val="FFFFFF"/>
                </a:solidFill>
                <a:latin typeface="Tahoma"/>
                <a:cs typeface="Tahoma"/>
              </a:rPr>
              <a:t>ELK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10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862747" y="1297328"/>
            <a:ext cx="2035810" cy="7886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  <a:tabLst>
                <a:tab pos="1035685" algn="l"/>
              </a:tabLst>
            </a:pPr>
            <a:r>
              <a:rPr dirty="0" sz="1100">
                <a:latin typeface="Tahoma"/>
                <a:cs typeface="Tahoma"/>
              </a:rPr>
              <a:t>OUHNI</a:t>
            </a:r>
            <a:r>
              <a:rPr dirty="0" sz="1100" spc="20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Kamal</a:t>
            </a:r>
            <a:r>
              <a:rPr dirty="0" sz="1100">
                <a:latin typeface="Tahoma"/>
                <a:cs typeface="Tahoma"/>
              </a:rPr>
              <a:t>	MONCIF</a:t>
            </a:r>
            <a:r>
              <a:rPr dirty="0" sz="1100" spc="140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Mouad</a:t>
            </a:r>
            <a:endParaRPr sz="11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  <a:spcBef>
                <a:spcPts val="1225"/>
              </a:spcBef>
            </a:pPr>
            <a:r>
              <a:rPr dirty="0" sz="800" spc="-10">
                <a:latin typeface="Tahoma"/>
                <a:cs typeface="Tahoma"/>
              </a:rPr>
              <a:t>ENSIAS</a:t>
            </a:r>
            <a:endParaRPr sz="8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225"/>
              </a:spcBef>
            </a:pPr>
            <a:endParaRPr sz="8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dirty="0" sz="1100" spc="-20">
                <a:latin typeface="Tahoma"/>
                <a:cs typeface="Tahoma"/>
              </a:rPr>
              <a:t>10 </a:t>
            </a:r>
            <a:r>
              <a:rPr dirty="0" sz="1100" spc="-70">
                <a:latin typeface="Tahoma"/>
                <a:cs typeface="Tahoma"/>
              </a:rPr>
              <a:t>novembre</a:t>
            </a:r>
            <a:r>
              <a:rPr dirty="0" sz="1100" spc="-10">
                <a:latin typeface="Tahoma"/>
                <a:cs typeface="Tahoma"/>
              </a:rPr>
              <a:t> </a:t>
            </a:r>
            <a:r>
              <a:rPr dirty="0" sz="1100" spc="-20">
                <a:latin typeface="Tahoma"/>
                <a:cs typeface="Tahoma"/>
              </a:rPr>
              <a:t>2025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911819" y="2645472"/>
            <a:ext cx="193675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35" b="1">
                <a:latin typeface="Arial"/>
                <a:cs typeface="Arial"/>
              </a:rPr>
              <a:t>Encadrant</a:t>
            </a:r>
            <a:r>
              <a:rPr dirty="0" sz="1100" spc="45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:</a:t>
            </a:r>
            <a:r>
              <a:rPr dirty="0" sz="1100" spc="10" b="1">
                <a:latin typeface="Arial"/>
                <a:cs typeface="Arial"/>
              </a:rPr>
              <a:t> </a:t>
            </a:r>
            <a:r>
              <a:rPr dirty="0" sz="1100" spc="-40">
                <a:latin typeface="Tahoma"/>
                <a:cs typeface="Tahoma"/>
              </a:rPr>
              <a:t>Noureddine</a:t>
            </a:r>
            <a:r>
              <a:rPr dirty="0" sz="1100" spc="-30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Kerzazi</a:t>
            </a:r>
            <a:endParaRPr sz="1100">
              <a:latin typeface="Tahoma"/>
              <a:cs typeface="Tahoma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Plan</a:t>
            </a:r>
            <a:r>
              <a:rPr dirty="0" spc="-20"/>
              <a:t> </a:t>
            </a:r>
            <a:r>
              <a:rPr dirty="0" spc="-50"/>
              <a:t>de</a:t>
            </a:r>
            <a:r>
              <a:rPr dirty="0" spc="-20"/>
              <a:t> </a:t>
            </a:r>
            <a:r>
              <a:rPr dirty="0"/>
              <a:t>la</a:t>
            </a:r>
            <a:r>
              <a:rPr dirty="0" spc="-20"/>
              <a:t> </a:t>
            </a:r>
            <a:r>
              <a:rPr dirty="0" spc="-30"/>
              <a:t>P</a:t>
            </a:r>
            <a:r>
              <a:rPr dirty="0" spc="-70"/>
              <a:t>r</a:t>
            </a:r>
            <a:r>
              <a:rPr dirty="0" spc="-755"/>
              <a:t>´</a:t>
            </a:r>
            <a:r>
              <a:rPr dirty="0" spc="-30"/>
              <a:t>esentation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9280" y="606323"/>
            <a:ext cx="160096" cy="16009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9280" y="899363"/>
            <a:ext cx="160096" cy="16009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9280" y="1192390"/>
            <a:ext cx="160096" cy="160096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29743" y="578229"/>
            <a:ext cx="1489710" cy="77787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77165" indent="-164465">
              <a:lnSpc>
                <a:spcPct val="100000"/>
              </a:lnSpc>
              <a:spcBef>
                <a:spcPts val="90"/>
              </a:spcBef>
              <a:buClr>
                <a:srgbClr val="EAEAF7"/>
              </a:buClr>
              <a:buSzPct val="72727"/>
              <a:buAutoNum type="arabicPlain"/>
              <a:tabLst>
                <a:tab pos="177165" algn="l"/>
              </a:tabLst>
            </a:pPr>
            <a:r>
              <a:rPr dirty="0" sz="1100" spc="-10">
                <a:solidFill>
                  <a:srgbClr val="3333B2"/>
                </a:solidFill>
                <a:latin typeface="Tahoma"/>
                <a:cs typeface="Tahoma"/>
                <a:hlinkClick r:id="rId5" action="ppaction://hlinksldjump"/>
              </a:rPr>
              <a:t>Contexte</a:t>
            </a:r>
            <a:endParaRPr sz="1100">
              <a:latin typeface="Tahoma"/>
              <a:cs typeface="Tahoma"/>
            </a:endParaRPr>
          </a:p>
          <a:p>
            <a:pPr marL="177165" indent="-164465">
              <a:lnSpc>
                <a:spcPct val="100000"/>
              </a:lnSpc>
              <a:spcBef>
                <a:spcPts val="985"/>
              </a:spcBef>
              <a:buClr>
                <a:srgbClr val="EAEAF7"/>
              </a:buClr>
              <a:buSzPct val="72727"/>
              <a:buAutoNum type="arabicPlain"/>
              <a:tabLst>
                <a:tab pos="177165" algn="l"/>
              </a:tabLst>
            </a:pPr>
            <a:r>
              <a:rPr dirty="0" sz="1100" spc="-25">
                <a:solidFill>
                  <a:srgbClr val="3333B2"/>
                </a:solidFill>
                <a:latin typeface="Tahoma"/>
                <a:cs typeface="Tahoma"/>
                <a:hlinkClick r:id="rId6" action="ppaction://hlinksldjump"/>
              </a:rPr>
              <a:t>Architecture </a:t>
            </a:r>
            <a:r>
              <a:rPr dirty="0" sz="1100" spc="-10">
                <a:solidFill>
                  <a:srgbClr val="3333B2"/>
                </a:solidFill>
                <a:latin typeface="Tahoma"/>
                <a:cs typeface="Tahoma"/>
                <a:hlinkClick r:id="rId6" action="ppaction://hlinksldjump"/>
              </a:rPr>
              <a:t>du</a:t>
            </a:r>
            <a:r>
              <a:rPr dirty="0" sz="1100" spc="-20">
                <a:solidFill>
                  <a:srgbClr val="3333B2"/>
                </a:solidFill>
                <a:latin typeface="Tahoma"/>
                <a:cs typeface="Tahoma"/>
                <a:hlinkClick r:id="rId6" action="ppaction://hlinksldjump"/>
              </a:rPr>
              <a:t> </a:t>
            </a:r>
            <a:r>
              <a:rPr dirty="0" sz="1100" spc="-10">
                <a:solidFill>
                  <a:srgbClr val="3333B2"/>
                </a:solidFill>
                <a:latin typeface="Tahoma"/>
                <a:cs typeface="Tahoma"/>
                <a:hlinkClick r:id="rId6" action="ppaction://hlinksldjump"/>
              </a:rPr>
              <a:t>Projet</a:t>
            </a:r>
            <a:endParaRPr sz="1100">
              <a:latin typeface="Tahoma"/>
              <a:cs typeface="Tahoma"/>
            </a:endParaRPr>
          </a:p>
          <a:p>
            <a:pPr marL="177165" indent="-164465">
              <a:lnSpc>
                <a:spcPct val="100000"/>
              </a:lnSpc>
              <a:spcBef>
                <a:spcPts val="990"/>
              </a:spcBef>
              <a:buClr>
                <a:srgbClr val="EAEAF7"/>
              </a:buClr>
              <a:buSzPct val="72727"/>
              <a:buAutoNum type="arabicPlain"/>
              <a:tabLst>
                <a:tab pos="177165" algn="l"/>
              </a:tabLst>
            </a:pPr>
            <a:r>
              <a:rPr dirty="0" sz="1100" spc="-20">
                <a:solidFill>
                  <a:srgbClr val="3333B2"/>
                </a:solidFill>
                <a:latin typeface="Tahoma"/>
                <a:cs typeface="Tahoma"/>
                <a:hlinkClick r:id="rId7" action="ppaction://hlinksldjump"/>
              </a:rPr>
              <a:t>Mapping</a:t>
            </a:r>
            <a:r>
              <a:rPr dirty="0" sz="1100" spc="-10">
                <a:solidFill>
                  <a:srgbClr val="3333B2"/>
                </a:solidFill>
                <a:latin typeface="Tahoma"/>
                <a:cs typeface="Tahoma"/>
                <a:hlinkClick r:id="rId7" action="ppaction://hlinksldjump"/>
              </a:rPr>
              <a:t> </a:t>
            </a:r>
            <a:r>
              <a:rPr dirty="0" sz="1100" spc="-25">
                <a:solidFill>
                  <a:srgbClr val="3333B2"/>
                </a:solidFill>
                <a:latin typeface="Tahoma"/>
                <a:cs typeface="Tahoma"/>
                <a:hlinkClick r:id="rId7" action="ppaction://hlinksldjump"/>
              </a:rPr>
              <a:t>Elasticsearch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7" name="object 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89280" y="1485430"/>
            <a:ext cx="160096" cy="160096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29743" y="1484768"/>
            <a:ext cx="79375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50">
                <a:solidFill>
                  <a:srgbClr val="EAEAF7"/>
                </a:solidFill>
                <a:latin typeface="Tahoma"/>
                <a:cs typeface="Tahoma"/>
              </a:rPr>
              <a:t>4</a:t>
            </a:r>
            <a:endParaRPr sz="800">
              <a:latin typeface="Tahom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95173" y="1457336"/>
            <a:ext cx="115824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10">
                <a:solidFill>
                  <a:srgbClr val="3333B2"/>
                </a:solidFill>
                <a:latin typeface="Tahoma"/>
                <a:cs typeface="Tahoma"/>
                <a:hlinkClick r:id="rId9" action="ppaction://hlinksldjump"/>
              </a:rPr>
              <a:t>Pipeline</a:t>
            </a:r>
            <a:r>
              <a:rPr dirty="0" sz="1100" spc="-70">
                <a:solidFill>
                  <a:srgbClr val="3333B2"/>
                </a:solidFill>
                <a:latin typeface="Tahoma"/>
                <a:cs typeface="Tahoma"/>
                <a:hlinkClick r:id="rId9" action="ppaction://hlinksldjump"/>
              </a:rPr>
              <a:t> </a:t>
            </a:r>
            <a:r>
              <a:rPr dirty="0" sz="1100" spc="-40">
                <a:solidFill>
                  <a:srgbClr val="3333B2"/>
                </a:solidFill>
                <a:latin typeface="Tahoma"/>
                <a:cs typeface="Tahoma"/>
                <a:hlinkClick r:id="rId9" action="ppaction://hlinksldjump"/>
              </a:rPr>
              <a:t>d’Ingestion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10" name="object 10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89280" y="1778457"/>
            <a:ext cx="160096" cy="160096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29743" y="1777795"/>
            <a:ext cx="79375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50">
                <a:solidFill>
                  <a:srgbClr val="EAEAF7"/>
                </a:solidFill>
                <a:latin typeface="Tahoma"/>
                <a:cs typeface="Tahoma"/>
              </a:rPr>
              <a:t>5</a:t>
            </a:r>
            <a:endParaRPr sz="800">
              <a:latin typeface="Tahoma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95173" y="1750363"/>
            <a:ext cx="80518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25">
                <a:solidFill>
                  <a:srgbClr val="3333B2"/>
                </a:solidFill>
                <a:latin typeface="Tahoma"/>
                <a:cs typeface="Tahoma"/>
                <a:hlinkClick r:id="rId11" action="ppaction://hlinksldjump"/>
              </a:rPr>
              <a:t>Visualisations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13" name="object 13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89280" y="2071497"/>
            <a:ext cx="160096" cy="160096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129743" y="2070835"/>
            <a:ext cx="79375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50">
                <a:solidFill>
                  <a:srgbClr val="EAEAF7"/>
                </a:solidFill>
                <a:latin typeface="Tahoma"/>
                <a:cs typeface="Tahoma"/>
              </a:rPr>
              <a:t>6</a:t>
            </a:r>
            <a:endParaRPr sz="800">
              <a:latin typeface="Tahoma"/>
              <a:cs typeface="Tahom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95173" y="2043403"/>
            <a:ext cx="1050925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10">
                <a:solidFill>
                  <a:srgbClr val="3333B2"/>
                </a:solidFill>
                <a:latin typeface="Tahoma"/>
                <a:cs typeface="Tahoma"/>
                <a:hlinkClick r:id="rId13" action="ppaction://hlinksldjump"/>
              </a:rPr>
              <a:t>Machine</a:t>
            </a:r>
            <a:r>
              <a:rPr dirty="0" sz="1100" spc="-70">
                <a:solidFill>
                  <a:srgbClr val="3333B2"/>
                </a:solidFill>
                <a:latin typeface="Tahoma"/>
                <a:cs typeface="Tahoma"/>
                <a:hlinkClick r:id="rId13" action="ppaction://hlinksldjump"/>
              </a:rPr>
              <a:t> </a:t>
            </a:r>
            <a:r>
              <a:rPr dirty="0" sz="1100" spc="-40">
                <a:solidFill>
                  <a:srgbClr val="3333B2"/>
                </a:solidFill>
                <a:latin typeface="Tahoma"/>
                <a:cs typeface="Tahoma"/>
                <a:hlinkClick r:id="rId13" action="ppaction://hlinksldjump"/>
              </a:rPr>
              <a:t>Learning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16" name="object 16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89280" y="2364524"/>
            <a:ext cx="160096" cy="160096"/>
          </a:xfrm>
          <a:prstGeom prst="rect">
            <a:avLst/>
          </a:prstGeom>
        </p:spPr>
      </p:pic>
      <p:sp>
        <p:nvSpPr>
          <p:cNvPr id="17" name="object 17"/>
          <p:cNvSpPr txBox="1"/>
          <p:nvPr/>
        </p:nvSpPr>
        <p:spPr>
          <a:xfrm>
            <a:off x="129743" y="2363862"/>
            <a:ext cx="79375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50">
                <a:solidFill>
                  <a:srgbClr val="EAEAF7"/>
                </a:solidFill>
                <a:latin typeface="Tahoma"/>
                <a:cs typeface="Tahoma"/>
              </a:rPr>
              <a:t>7</a:t>
            </a:r>
            <a:endParaRPr sz="800">
              <a:latin typeface="Tahoma"/>
              <a:cs typeface="Tahom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95173" y="2336430"/>
            <a:ext cx="554355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55">
                <a:solidFill>
                  <a:srgbClr val="3333B2"/>
                </a:solidFill>
                <a:latin typeface="Tahoma"/>
                <a:cs typeface="Tahoma"/>
                <a:hlinkClick r:id="rId15" action="ppaction://hlinksldjump"/>
              </a:rPr>
              <a:t>R</a:t>
            </a:r>
            <a:r>
              <a:rPr dirty="0" sz="1100" spc="-600">
                <a:solidFill>
                  <a:srgbClr val="3333B2"/>
                </a:solidFill>
                <a:latin typeface="Tahoma"/>
                <a:cs typeface="Tahoma"/>
                <a:hlinkClick r:id="rId15" action="ppaction://hlinksldjump"/>
              </a:rPr>
              <a:t>´</a:t>
            </a:r>
            <a:r>
              <a:rPr dirty="0" sz="1100" spc="-25">
                <a:solidFill>
                  <a:srgbClr val="3333B2"/>
                </a:solidFill>
                <a:latin typeface="Tahoma"/>
                <a:cs typeface="Tahoma"/>
                <a:hlinkClick r:id="rId15" action="ppaction://hlinksldjump"/>
              </a:rPr>
              <a:t>esultats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19" name="object 19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89280" y="2657563"/>
            <a:ext cx="160096" cy="160096"/>
          </a:xfrm>
          <a:prstGeom prst="rect">
            <a:avLst/>
          </a:prstGeom>
        </p:spPr>
      </p:pic>
      <p:sp>
        <p:nvSpPr>
          <p:cNvPr id="20" name="object 20"/>
          <p:cNvSpPr txBox="1"/>
          <p:nvPr/>
        </p:nvSpPr>
        <p:spPr>
          <a:xfrm>
            <a:off x="129743" y="2629470"/>
            <a:ext cx="814069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baseline="6944" sz="1200">
                <a:solidFill>
                  <a:srgbClr val="EAEAF7"/>
                </a:solidFill>
                <a:latin typeface="Tahoma"/>
                <a:cs typeface="Tahoma"/>
              </a:rPr>
              <a:t>8</a:t>
            </a:r>
            <a:r>
              <a:rPr dirty="0" baseline="6944" sz="1200" spc="262">
                <a:solidFill>
                  <a:srgbClr val="EAEAF7"/>
                </a:solidFill>
                <a:latin typeface="Tahoma"/>
                <a:cs typeface="Tahoma"/>
              </a:rPr>
              <a:t>  </a:t>
            </a:r>
            <a:r>
              <a:rPr dirty="0" sz="1100" spc="-30">
                <a:solidFill>
                  <a:srgbClr val="3333B2"/>
                </a:solidFill>
                <a:latin typeface="Tahoma"/>
                <a:cs typeface="Tahoma"/>
                <a:hlinkClick r:id="rId17" action="ppaction://hlinksldjump"/>
              </a:rPr>
              <a:t>Conclusion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10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30"/>
              <a:t>Contexte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4911" y="1332433"/>
            <a:ext cx="65265" cy="6526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4911" y="1542465"/>
            <a:ext cx="65265" cy="6526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34911" y="1752498"/>
            <a:ext cx="65265" cy="65265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79667" y="995169"/>
            <a:ext cx="2038350" cy="866140"/>
          </a:xfrm>
          <a:prstGeom prst="rect">
            <a:avLst/>
          </a:prstGeom>
        </p:spPr>
        <p:txBody>
          <a:bodyPr wrap="square" lIns="0" tIns="5524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dirty="0" sz="1100" spc="-55" b="1">
                <a:latin typeface="Arial"/>
                <a:cs typeface="Arial"/>
              </a:rPr>
              <a:t>Probl´ematique</a:t>
            </a:r>
            <a:r>
              <a:rPr dirty="0" sz="1100" spc="30" b="1">
                <a:latin typeface="Arial"/>
                <a:cs typeface="Arial"/>
              </a:rPr>
              <a:t> </a:t>
            </a:r>
            <a:r>
              <a:rPr dirty="0" sz="1100" spc="-50" b="1">
                <a:latin typeface="Arial"/>
                <a:cs typeface="Arial"/>
              </a:rPr>
              <a:t>:</a:t>
            </a:r>
            <a:endParaRPr sz="1100">
              <a:latin typeface="Arial"/>
              <a:cs typeface="Arial"/>
            </a:endParaRPr>
          </a:p>
          <a:p>
            <a:pPr marL="289560" marR="5080">
              <a:lnSpc>
                <a:spcPct val="125299"/>
              </a:lnSpc>
            </a:pPr>
            <a:r>
              <a:rPr dirty="0" sz="1100" spc="-30">
                <a:latin typeface="Tahoma"/>
                <a:cs typeface="Tahoma"/>
              </a:rPr>
              <a:t>Analyse</a:t>
            </a:r>
            <a:r>
              <a:rPr dirty="0" sz="1100" spc="-35">
                <a:latin typeface="Tahoma"/>
                <a:cs typeface="Tahoma"/>
              </a:rPr>
              <a:t> de </a:t>
            </a:r>
            <a:r>
              <a:rPr dirty="0" sz="1100" spc="-40">
                <a:latin typeface="Tahoma"/>
                <a:cs typeface="Tahoma"/>
              </a:rPr>
              <a:t>logs</a:t>
            </a:r>
            <a:r>
              <a:rPr dirty="0" sz="1100" spc="-35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Firefox </a:t>
            </a:r>
            <a:r>
              <a:rPr dirty="0" sz="1100" spc="-30">
                <a:latin typeface="Tahoma"/>
                <a:cs typeface="Tahoma"/>
              </a:rPr>
              <a:t>Volume</a:t>
            </a:r>
            <a:r>
              <a:rPr dirty="0" sz="1100" spc="-35">
                <a:latin typeface="Tahoma"/>
                <a:cs typeface="Tahoma"/>
              </a:rPr>
              <a:t> </a:t>
            </a:r>
            <a:r>
              <a:rPr dirty="0" sz="1100" spc="-25">
                <a:latin typeface="Tahoma"/>
                <a:cs typeface="Tahoma"/>
              </a:rPr>
              <a:t>important</a:t>
            </a:r>
            <a:r>
              <a:rPr dirty="0" sz="1100" spc="-35">
                <a:latin typeface="Tahoma"/>
                <a:cs typeface="Tahoma"/>
              </a:rPr>
              <a:t> de </a:t>
            </a:r>
            <a:r>
              <a:rPr dirty="0" sz="1100" spc="-60">
                <a:latin typeface="Tahoma"/>
                <a:cs typeface="Tahoma"/>
              </a:rPr>
              <a:t>don</a:t>
            </a:r>
            <a:r>
              <a:rPr dirty="0" sz="1100" spc="-95">
                <a:latin typeface="Tahoma"/>
                <a:cs typeface="Tahoma"/>
              </a:rPr>
              <a:t>n</a:t>
            </a:r>
            <a:r>
              <a:rPr dirty="0" sz="1100" spc="-635">
                <a:latin typeface="Tahoma"/>
                <a:cs typeface="Tahoma"/>
              </a:rPr>
              <a:t>´</a:t>
            </a:r>
            <a:r>
              <a:rPr dirty="0" sz="1100" spc="-60">
                <a:latin typeface="Tahoma"/>
                <a:cs typeface="Tahoma"/>
              </a:rPr>
              <a:t>ees</a:t>
            </a:r>
            <a:r>
              <a:rPr dirty="0" sz="1100" spc="-140">
                <a:latin typeface="Tahoma"/>
                <a:cs typeface="Tahoma"/>
              </a:rPr>
              <a:t> </a:t>
            </a:r>
            <a:r>
              <a:rPr dirty="0" sz="1100" spc="-65">
                <a:latin typeface="Tahoma"/>
                <a:cs typeface="Tahoma"/>
              </a:rPr>
              <a:t>D</a:t>
            </a:r>
            <a:r>
              <a:rPr dirty="0" sz="1100" spc="-605">
                <a:latin typeface="Tahoma"/>
                <a:cs typeface="Tahoma"/>
              </a:rPr>
              <a:t>´</a:t>
            </a:r>
            <a:r>
              <a:rPr dirty="0" sz="1100" spc="-30">
                <a:latin typeface="Tahoma"/>
                <a:cs typeface="Tahoma"/>
              </a:rPr>
              <a:t>etection</a:t>
            </a:r>
            <a:r>
              <a:rPr dirty="0" sz="1100" spc="85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d’anomalies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068726" y="1427937"/>
            <a:ext cx="65265" cy="65265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068726" y="1637969"/>
            <a:ext cx="65265" cy="65265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068726" y="1848002"/>
            <a:ext cx="65265" cy="65265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2913481" y="1090673"/>
            <a:ext cx="1851660" cy="866140"/>
          </a:xfrm>
          <a:prstGeom prst="rect">
            <a:avLst/>
          </a:prstGeom>
        </p:spPr>
        <p:txBody>
          <a:bodyPr wrap="square" lIns="0" tIns="5524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dirty="0" sz="1100" b="1">
                <a:latin typeface="Arial"/>
                <a:cs typeface="Arial"/>
              </a:rPr>
              <a:t>Objectif</a:t>
            </a:r>
            <a:r>
              <a:rPr dirty="0" sz="1100" spc="-35" b="1">
                <a:latin typeface="Arial"/>
                <a:cs typeface="Arial"/>
              </a:rPr>
              <a:t> </a:t>
            </a:r>
            <a:r>
              <a:rPr dirty="0" sz="1100" spc="-50" b="1">
                <a:latin typeface="Arial"/>
                <a:cs typeface="Arial"/>
              </a:rPr>
              <a:t>:</a:t>
            </a:r>
            <a:endParaRPr sz="1100">
              <a:latin typeface="Arial"/>
              <a:cs typeface="Arial"/>
            </a:endParaRPr>
          </a:p>
          <a:p>
            <a:pPr marL="289560" marR="5080">
              <a:lnSpc>
                <a:spcPct val="125299"/>
              </a:lnSpc>
            </a:pPr>
            <a:r>
              <a:rPr dirty="0" sz="1100" spc="-20">
                <a:latin typeface="Tahoma"/>
                <a:cs typeface="Tahoma"/>
              </a:rPr>
              <a:t>Visualisation</a:t>
            </a:r>
            <a:r>
              <a:rPr dirty="0" sz="1100" spc="-25">
                <a:latin typeface="Tahoma"/>
                <a:cs typeface="Tahoma"/>
              </a:rPr>
              <a:t> </a:t>
            </a:r>
            <a:r>
              <a:rPr dirty="0" sz="1100" spc="-35">
                <a:latin typeface="Tahoma"/>
                <a:cs typeface="Tahoma"/>
              </a:rPr>
              <a:t>en</a:t>
            </a:r>
            <a:r>
              <a:rPr dirty="0" sz="1100" spc="-25">
                <a:latin typeface="Tahoma"/>
                <a:cs typeface="Tahoma"/>
              </a:rPr>
              <a:t> </a:t>
            </a:r>
            <a:r>
              <a:rPr dirty="0" sz="1100" spc="-50">
                <a:latin typeface="Tahoma"/>
                <a:cs typeface="Tahoma"/>
              </a:rPr>
              <a:t>temps</a:t>
            </a:r>
            <a:r>
              <a:rPr dirty="0" sz="1100" spc="-25">
                <a:latin typeface="Tahoma"/>
                <a:cs typeface="Tahoma"/>
              </a:rPr>
              <a:t> </a:t>
            </a:r>
            <a:r>
              <a:rPr dirty="0" sz="1100" spc="-75">
                <a:latin typeface="Tahoma"/>
                <a:cs typeface="Tahoma"/>
              </a:rPr>
              <a:t>r</a:t>
            </a:r>
            <a:r>
              <a:rPr dirty="0" sz="1100" spc="-615">
                <a:latin typeface="Tahoma"/>
                <a:cs typeface="Tahoma"/>
              </a:rPr>
              <a:t>´</a:t>
            </a:r>
            <a:r>
              <a:rPr dirty="0" sz="1100" spc="-40">
                <a:latin typeface="Tahoma"/>
                <a:cs typeface="Tahoma"/>
              </a:rPr>
              <a:t>eel</a:t>
            </a:r>
            <a:r>
              <a:rPr dirty="0" sz="1100" spc="-20">
                <a:latin typeface="Tahoma"/>
                <a:cs typeface="Tahoma"/>
              </a:rPr>
              <a:t> Monitoring</a:t>
            </a:r>
            <a:r>
              <a:rPr dirty="0" sz="1100" spc="-10">
                <a:latin typeface="Tahoma"/>
                <a:cs typeface="Tahoma"/>
              </a:rPr>
              <a:t> </a:t>
            </a:r>
            <a:r>
              <a:rPr dirty="0" sz="1100" spc="-65">
                <a:latin typeface="Tahoma"/>
                <a:cs typeface="Tahoma"/>
              </a:rPr>
              <a:t>des</a:t>
            </a:r>
            <a:r>
              <a:rPr dirty="0" sz="1100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builds </a:t>
            </a:r>
            <a:r>
              <a:rPr dirty="0" sz="1100" spc="-65">
                <a:latin typeface="Tahoma"/>
                <a:cs typeface="Tahoma"/>
              </a:rPr>
              <a:t>D</a:t>
            </a:r>
            <a:r>
              <a:rPr dirty="0" sz="1100" spc="-605">
                <a:latin typeface="Tahoma"/>
                <a:cs typeface="Tahoma"/>
              </a:rPr>
              <a:t>´</a:t>
            </a:r>
            <a:r>
              <a:rPr dirty="0" sz="1100" spc="-30">
                <a:latin typeface="Tahoma"/>
                <a:cs typeface="Tahoma"/>
              </a:rPr>
              <a:t>etection</a:t>
            </a:r>
            <a:r>
              <a:rPr dirty="0" sz="1100" spc="85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automatique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10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20"/>
              <a:t>Architecture</a:t>
            </a:r>
            <a:r>
              <a:rPr dirty="0" spc="-65"/>
              <a:t> </a:t>
            </a:r>
            <a:r>
              <a:rPr dirty="0"/>
              <a:t>du</a:t>
            </a:r>
            <a:r>
              <a:rPr dirty="0" spc="-60"/>
              <a:t> </a:t>
            </a:r>
            <a:r>
              <a:rPr dirty="0" spc="-10"/>
              <a:t>Projet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4911" y="1240650"/>
            <a:ext cx="65265" cy="6526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4911" y="1450682"/>
            <a:ext cx="65265" cy="6526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34911" y="2050745"/>
            <a:ext cx="65265" cy="652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34911" y="2260777"/>
            <a:ext cx="65265" cy="65265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prstGeom prst="rect"/>
        </p:spPr>
        <p:txBody>
          <a:bodyPr wrap="square" lIns="0" tIns="5524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dirty="0" spc="-35"/>
              <a:t>Ingestion</a:t>
            </a:r>
            <a:r>
              <a:rPr dirty="0" spc="10"/>
              <a:t> </a:t>
            </a:r>
            <a:r>
              <a:rPr dirty="0" spc="-50"/>
              <a:t>:</a:t>
            </a:r>
          </a:p>
          <a:p>
            <a:pPr marL="289560">
              <a:lnSpc>
                <a:spcPct val="100000"/>
              </a:lnSpc>
              <a:spcBef>
                <a:spcPts val="334"/>
              </a:spcBef>
            </a:pPr>
            <a:r>
              <a:rPr dirty="0" spc="-20" b="0">
                <a:latin typeface="Tahoma"/>
                <a:cs typeface="Tahoma"/>
              </a:rPr>
              <a:t>Filebeat</a:t>
            </a:r>
            <a:r>
              <a:rPr dirty="0" spc="-45" b="0">
                <a:latin typeface="Tahoma"/>
                <a:cs typeface="Tahoma"/>
              </a:rPr>
              <a:t> </a:t>
            </a:r>
            <a:r>
              <a:rPr dirty="0" b="0">
                <a:latin typeface="Tahoma"/>
                <a:cs typeface="Tahoma"/>
              </a:rPr>
              <a:t>:</a:t>
            </a:r>
            <a:r>
              <a:rPr dirty="0" spc="-25" b="0">
                <a:latin typeface="Tahoma"/>
                <a:cs typeface="Tahoma"/>
              </a:rPr>
              <a:t> </a:t>
            </a:r>
            <a:r>
              <a:rPr dirty="0" spc="-20" b="0">
                <a:latin typeface="Tahoma"/>
                <a:cs typeface="Tahoma"/>
              </a:rPr>
              <a:t>Collecte</a:t>
            </a:r>
            <a:r>
              <a:rPr dirty="0" spc="-30" b="0">
                <a:latin typeface="Tahoma"/>
                <a:cs typeface="Tahoma"/>
              </a:rPr>
              <a:t> </a:t>
            </a:r>
            <a:r>
              <a:rPr dirty="0" spc="-60" b="0">
                <a:latin typeface="Tahoma"/>
                <a:cs typeface="Tahoma"/>
              </a:rPr>
              <a:t>des</a:t>
            </a:r>
            <a:r>
              <a:rPr dirty="0" spc="-30" b="0">
                <a:latin typeface="Tahoma"/>
                <a:cs typeface="Tahoma"/>
              </a:rPr>
              <a:t> </a:t>
            </a:r>
            <a:r>
              <a:rPr dirty="0" spc="-20" b="0">
                <a:latin typeface="Tahoma"/>
                <a:cs typeface="Tahoma"/>
              </a:rPr>
              <a:t>logs</a:t>
            </a:r>
          </a:p>
          <a:p>
            <a:pPr marL="289560">
              <a:lnSpc>
                <a:spcPct val="100000"/>
              </a:lnSpc>
              <a:spcBef>
                <a:spcPts val="330"/>
              </a:spcBef>
            </a:pPr>
            <a:r>
              <a:rPr dirty="0" spc="-30" b="0">
                <a:latin typeface="Tahoma"/>
                <a:cs typeface="Tahoma"/>
              </a:rPr>
              <a:t>Logstash</a:t>
            </a:r>
            <a:r>
              <a:rPr dirty="0" spc="-45" b="0">
                <a:latin typeface="Tahoma"/>
                <a:cs typeface="Tahoma"/>
              </a:rPr>
              <a:t> </a:t>
            </a:r>
            <a:r>
              <a:rPr dirty="0" b="0">
                <a:latin typeface="Tahoma"/>
                <a:cs typeface="Tahoma"/>
              </a:rPr>
              <a:t>:</a:t>
            </a:r>
            <a:r>
              <a:rPr dirty="0" spc="-45" b="0">
                <a:latin typeface="Tahoma"/>
                <a:cs typeface="Tahoma"/>
              </a:rPr>
              <a:t> </a:t>
            </a:r>
            <a:r>
              <a:rPr dirty="0" spc="-30" b="0">
                <a:latin typeface="Tahoma"/>
                <a:cs typeface="Tahoma"/>
              </a:rPr>
              <a:t>Parsing</a:t>
            </a:r>
            <a:r>
              <a:rPr dirty="0" spc="-45" b="0">
                <a:latin typeface="Tahoma"/>
                <a:cs typeface="Tahoma"/>
              </a:rPr>
              <a:t> </a:t>
            </a:r>
            <a:r>
              <a:rPr dirty="0" b="0">
                <a:latin typeface="Tahoma"/>
                <a:cs typeface="Tahoma"/>
              </a:rPr>
              <a:t>et</a:t>
            </a:r>
            <a:r>
              <a:rPr dirty="0" spc="-40" b="0">
                <a:latin typeface="Tahoma"/>
                <a:cs typeface="Tahoma"/>
              </a:rPr>
              <a:t> </a:t>
            </a:r>
            <a:r>
              <a:rPr dirty="0" spc="-35" b="0">
                <a:latin typeface="Tahoma"/>
                <a:cs typeface="Tahoma"/>
              </a:rPr>
              <a:t>transformation</a:t>
            </a:r>
          </a:p>
          <a:p>
            <a:pPr>
              <a:lnSpc>
                <a:spcPct val="100000"/>
              </a:lnSpc>
              <a:spcBef>
                <a:spcPts val="90"/>
              </a:spcBef>
            </a:pPr>
          </a:p>
          <a:p>
            <a:pPr marL="289560" marR="646430" indent="-277495">
              <a:lnSpc>
                <a:spcPct val="125299"/>
              </a:lnSpc>
            </a:pPr>
            <a:r>
              <a:rPr dirty="0" spc="-35"/>
              <a:t>Stockage</a:t>
            </a:r>
            <a:r>
              <a:rPr dirty="0" spc="35"/>
              <a:t> </a:t>
            </a:r>
            <a:r>
              <a:rPr dirty="0" spc="100"/>
              <a:t>&amp;</a:t>
            </a:r>
            <a:r>
              <a:rPr dirty="0" spc="35"/>
              <a:t> </a:t>
            </a:r>
            <a:r>
              <a:rPr dirty="0" spc="-50"/>
              <a:t>Analyse</a:t>
            </a:r>
            <a:r>
              <a:rPr dirty="0" spc="40"/>
              <a:t> </a:t>
            </a:r>
            <a:r>
              <a:rPr dirty="0" spc="-50"/>
              <a:t>: </a:t>
            </a:r>
            <a:r>
              <a:rPr dirty="0" spc="-30" b="0">
                <a:latin typeface="Tahoma"/>
                <a:cs typeface="Tahoma"/>
              </a:rPr>
              <a:t>Elasticsearch</a:t>
            </a:r>
            <a:r>
              <a:rPr dirty="0" spc="-40" b="0">
                <a:latin typeface="Tahoma"/>
                <a:cs typeface="Tahoma"/>
              </a:rPr>
              <a:t> </a:t>
            </a:r>
            <a:r>
              <a:rPr dirty="0" b="0">
                <a:latin typeface="Tahoma"/>
                <a:cs typeface="Tahoma"/>
              </a:rPr>
              <a:t>:</a:t>
            </a:r>
            <a:r>
              <a:rPr dirty="0" spc="-40" b="0">
                <a:latin typeface="Tahoma"/>
                <a:cs typeface="Tahoma"/>
              </a:rPr>
              <a:t> </a:t>
            </a:r>
            <a:r>
              <a:rPr dirty="0" spc="-55" b="0">
                <a:latin typeface="Tahoma"/>
                <a:cs typeface="Tahoma"/>
              </a:rPr>
              <a:t>Indexation </a:t>
            </a:r>
            <a:r>
              <a:rPr dirty="0" b="0">
                <a:latin typeface="Tahoma"/>
                <a:cs typeface="Tahoma"/>
              </a:rPr>
              <a:t>Kibana</a:t>
            </a:r>
            <a:r>
              <a:rPr dirty="0" spc="-75" b="0">
                <a:latin typeface="Tahoma"/>
                <a:cs typeface="Tahoma"/>
              </a:rPr>
              <a:t> </a:t>
            </a:r>
            <a:r>
              <a:rPr dirty="0" b="0">
                <a:latin typeface="Tahoma"/>
                <a:cs typeface="Tahoma"/>
              </a:rPr>
              <a:t>:</a:t>
            </a:r>
            <a:r>
              <a:rPr dirty="0" spc="-75" b="0">
                <a:latin typeface="Tahoma"/>
                <a:cs typeface="Tahoma"/>
              </a:rPr>
              <a:t> </a:t>
            </a:r>
            <a:r>
              <a:rPr dirty="0" spc="-10" b="0">
                <a:latin typeface="Tahoma"/>
                <a:cs typeface="Tahoma"/>
              </a:rPr>
              <a:t>Visualisation</a:t>
            </a:r>
          </a:p>
        </p:txBody>
      </p:sp>
      <p:pic>
        <p:nvPicPr>
          <p:cNvPr id="8" name="object 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926181" y="523942"/>
            <a:ext cx="2741568" cy="2409427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056271" y="2941598"/>
            <a:ext cx="364871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10" b="1">
                <a:latin typeface="Arial"/>
                <a:cs typeface="Arial"/>
              </a:rPr>
              <a:t>Stack</a:t>
            </a:r>
            <a:r>
              <a:rPr dirty="0" sz="1100" spc="55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ELK</a:t>
            </a:r>
            <a:r>
              <a:rPr dirty="0" sz="1100" spc="50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:</a:t>
            </a:r>
            <a:r>
              <a:rPr dirty="0" sz="1100" spc="20" b="1">
                <a:latin typeface="Arial"/>
                <a:cs typeface="Arial"/>
              </a:rPr>
              <a:t> </a:t>
            </a:r>
            <a:r>
              <a:rPr dirty="0" sz="1100" spc="-20">
                <a:latin typeface="Tahoma"/>
                <a:cs typeface="Tahoma"/>
              </a:rPr>
              <a:t>Filebeat </a:t>
            </a:r>
            <a:r>
              <a:rPr dirty="0" sz="1100" spc="80">
                <a:latin typeface="Calibri"/>
                <a:cs typeface="Calibri"/>
              </a:rPr>
              <a:t>→</a:t>
            </a:r>
            <a:r>
              <a:rPr dirty="0" sz="1100" spc="75">
                <a:latin typeface="Calibri"/>
                <a:cs typeface="Calibri"/>
              </a:rPr>
              <a:t> </a:t>
            </a:r>
            <a:r>
              <a:rPr dirty="0" sz="1100" spc="-30">
                <a:latin typeface="Tahoma"/>
                <a:cs typeface="Tahoma"/>
              </a:rPr>
              <a:t>Logstash</a:t>
            </a:r>
            <a:r>
              <a:rPr dirty="0" sz="1100" spc="-15">
                <a:latin typeface="Tahoma"/>
                <a:cs typeface="Tahoma"/>
              </a:rPr>
              <a:t> </a:t>
            </a:r>
            <a:r>
              <a:rPr dirty="0" sz="1100" spc="80">
                <a:latin typeface="Calibri"/>
                <a:cs typeface="Calibri"/>
              </a:rPr>
              <a:t>→</a:t>
            </a:r>
            <a:r>
              <a:rPr dirty="0" sz="1100" spc="75">
                <a:latin typeface="Calibri"/>
                <a:cs typeface="Calibri"/>
              </a:rPr>
              <a:t> </a:t>
            </a:r>
            <a:r>
              <a:rPr dirty="0" sz="1100" spc="-30">
                <a:latin typeface="Tahoma"/>
                <a:cs typeface="Tahoma"/>
              </a:rPr>
              <a:t>Elasticsearch</a:t>
            </a:r>
            <a:r>
              <a:rPr dirty="0" sz="1100" spc="-15">
                <a:latin typeface="Tahoma"/>
                <a:cs typeface="Tahoma"/>
              </a:rPr>
              <a:t> </a:t>
            </a:r>
            <a:r>
              <a:rPr dirty="0" sz="1100" spc="80">
                <a:latin typeface="Calibri"/>
                <a:cs typeface="Calibri"/>
              </a:rPr>
              <a:t>→ </a:t>
            </a:r>
            <a:r>
              <a:rPr dirty="0" sz="1100" spc="-10">
                <a:latin typeface="Tahoma"/>
                <a:cs typeface="Tahoma"/>
              </a:rPr>
              <a:t>Kibana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10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10"/>
              <a:t>Mapping</a:t>
            </a:r>
            <a:r>
              <a:rPr dirty="0" spc="-60"/>
              <a:t> </a:t>
            </a:r>
            <a:r>
              <a:rPr dirty="0" spc="-40"/>
              <a:t>Elasticsearch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57552" y="447986"/>
            <a:ext cx="1644891" cy="207837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2687573"/>
            <a:ext cx="65265" cy="65265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402932" y="2604120"/>
            <a:ext cx="1873885" cy="535940"/>
          </a:xfrm>
          <a:prstGeom prst="rect">
            <a:avLst/>
          </a:prstGeom>
        </p:spPr>
        <p:txBody>
          <a:bodyPr wrap="square" lIns="0" tIns="6985" rIns="0" bIns="0" rtlCol="0" vert="horz">
            <a:spAutoFit/>
          </a:bodyPr>
          <a:lstStyle/>
          <a:p>
            <a:pPr marL="12700" marR="5080">
              <a:lnSpc>
                <a:spcPct val="102600"/>
              </a:lnSpc>
              <a:spcBef>
                <a:spcPts val="55"/>
              </a:spcBef>
            </a:pPr>
            <a:r>
              <a:rPr dirty="0" sz="1100" spc="-70">
                <a:latin typeface="Tahoma"/>
                <a:cs typeface="Tahoma"/>
              </a:rPr>
              <a:t>Index</a:t>
            </a:r>
            <a:r>
              <a:rPr dirty="0" sz="1100" spc="-20">
                <a:latin typeface="Tahoma"/>
                <a:cs typeface="Tahoma"/>
              </a:rPr>
              <a:t> pattern</a:t>
            </a:r>
            <a:r>
              <a:rPr dirty="0" sz="1100" spc="-40">
                <a:latin typeface="Tahoma"/>
                <a:cs typeface="Tahoma"/>
              </a:rPr>
              <a:t> </a:t>
            </a:r>
            <a:r>
              <a:rPr dirty="0" sz="1100">
                <a:latin typeface="Tahoma"/>
                <a:cs typeface="Tahoma"/>
              </a:rPr>
              <a:t>:</a:t>
            </a:r>
            <a:r>
              <a:rPr dirty="0" sz="1100" spc="-25">
                <a:latin typeface="Tahoma"/>
                <a:cs typeface="Tahoma"/>
              </a:rPr>
              <a:t> </a:t>
            </a:r>
            <a:r>
              <a:rPr dirty="0" sz="1100" spc="105">
                <a:latin typeface="Georgia"/>
                <a:cs typeface="Georgia"/>
              </a:rPr>
              <a:t>firefox-</a:t>
            </a:r>
            <a:r>
              <a:rPr dirty="0" sz="1100" spc="110">
                <a:latin typeface="Georgia"/>
                <a:cs typeface="Georgia"/>
              </a:rPr>
              <a:t>log-</a:t>
            </a:r>
            <a:r>
              <a:rPr dirty="0" sz="1100" spc="75">
                <a:latin typeface="Georgia"/>
                <a:cs typeface="Georgia"/>
              </a:rPr>
              <a:t>* </a:t>
            </a:r>
            <a:r>
              <a:rPr dirty="0" sz="1100" spc="-35">
                <a:latin typeface="Tahoma"/>
                <a:cs typeface="Tahoma"/>
              </a:rPr>
              <a:t>Types</a:t>
            </a:r>
            <a:r>
              <a:rPr dirty="0" sz="1100" spc="-40">
                <a:latin typeface="Tahoma"/>
                <a:cs typeface="Tahoma"/>
              </a:rPr>
              <a:t> </a:t>
            </a:r>
            <a:r>
              <a:rPr dirty="0" sz="1100" spc="-35">
                <a:latin typeface="Tahoma"/>
                <a:cs typeface="Tahoma"/>
              </a:rPr>
              <a:t>de</a:t>
            </a:r>
            <a:r>
              <a:rPr dirty="0" sz="1100" spc="-25">
                <a:latin typeface="Tahoma"/>
                <a:cs typeface="Tahoma"/>
              </a:rPr>
              <a:t> </a:t>
            </a:r>
            <a:r>
              <a:rPr dirty="0" sz="1100" spc="-55">
                <a:latin typeface="Tahoma"/>
                <a:cs typeface="Tahoma"/>
              </a:rPr>
              <a:t>champs</a:t>
            </a:r>
            <a:r>
              <a:rPr dirty="0" sz="1100" spc="-20">
                <a:latin typeface="Tahoma"/>
                <a:cs typeface="Tahoma"/>
              </a:rPr>
              <a:t> </a:t>
            </a:r>
            <a:r>
              <a:rPr dirty="0" sz="1100" spc="50">
                <a:latin typeface="Tahoma"/>
                <a:cs typeface="Tahoma"/>
              </a:rPr>
              <a:t>o</a:t>
            </a:r>
            <a:r>
              <a:rPr dirty="0" sz="1100" spc="40">
                <a:latin typeface="Tahoma"/>
                <a:cs typeface="Tahoma"/>
              </a:rPr>
              <a:t>p</a:t>
            </a:r>
            <a:r>
              <a:rPr dirty="0" sz="1100" spc="50">
                <a:latin typeface="Tahoma"/>
                <a:cs typeface="Tahoma"/>
              </a:rPr>
              <a:t>t</a:t>
            </a:r>
            <a:r>
              <a:rPr dirty="0" sz="1100" spc="45">
                <a:latin typeface="Tahoma"/>
                <a:cs typeface="Tahoma"/>
              </a:rPr>
              <a:t>i</a:t>
            </a:r>
            <a:r>
              <a:rPr dirty="0" sz="1100" spc="50">
                <a:latin typeface="Tahoma"/>
                <a:cs typeface="Tahoma"/>
              </a:rPr>
              <a:t>mi</a:t>
            </a:r>
            <a:r>
              <a:rPr dirty="0" sz="1100" spc="10">
                <a:latin typeface="Tahoma"/>
                <a:cs typeface="Tahoma"/>
              </a:rPr>
              <a:t>s</a:t>
            </a:r>
            <a:r>
              <a:rPr dirty="0" sz="1100" spc="-525">
                <a:latin typeface="Tahoma"/>
                <a:cs typeface="Tahoma"/>
              </a:rPr>
              <a:t>´</a:t>
            </a:r>
            <a:r>
              <a:rPr dirty="0" sz="1100" spc="50">
                <a:latin typeface="Tahoma"/>
                <a:cs typeface="Tahoma"/>
              </a:rPr>
              <a:t>es</a:t>
            </a:r>
            <a:r>
              <a:rPr dirty="0" sz="1100" spc="-15">
                <a:latin typeface="Tahoma"/>
                <a:cs typeface="Tahoma"/>
              </a:rPr>
              <a:t> </a:t>
            </a:r>
            <a:r>
              <a:rPr dirty="0" sz="1100" spc="-30">
                <a:latin typeface="Tahoma"/>
                <a:cs typeface="Tahoma"/>
              </a:rPr>
              <a:t>Configuration</a:t>
            </a:r>
            <a:r>
              <a:rPr dirty="0" sz="1100" spc="5">
                <a:latin typeface="Tahoma"/>
                <a:cs typeface="Tahoma"/>
              </a:rPr>
              <a:t> </a:t>
            </a:r>
            <a:r>
              <a:rPr dirty="0" sz="1100" spc="-65">
                <a:latin typeface="Tahoma"/>
                <a:cs typeface="Tahoma"/>
              </a:rPr>
              <a:t>des</a:t>
            </a:r>
            <a:r>
              <a:rPr dirty="0" sz="1100" spc="10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aggregations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2859646"/>
            <a:ext cx="65265" cy="6526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81089" y="3031718"/>
            <a:ext cx="65265" cy="65265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10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9877"/>
            <a:ext cx="1475740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10">
                <a:solidFill>
                  <a:srgbClr val="FFFFFF"/>
                </a:solidFill>
                <a:latin typeface="Tahoma"/>
                <a:cs typeface="Tahoma"/>
              </a:rPr>
              <a:t>Pipeline</a:t>
            </a:r>
            <a:r>
              <a:rPr dirty="0" sz="1400" spc="-9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 spc="-45">
                <a:solidFill>
                  <a:srgbClr val="FFFFFF"/>
                </a:solidFill>
                <a:latin typeface="Tahoma"/>
                <a:cs typeface="Tahoma"/>
              </a:rPr>
              <a:t>d’Ingestion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2711" y="745049"/>
            <a:ext cx="4934941" cy="1560622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058354" y="2440379"/>
            <a:ext cx="3642995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60" b="1">
                <a:latin typeface="Arial"/>
                <a:cs typeface="Arial"/>
              </a:rPr>
              <a:t>R´esultat</a:t>
            </a:r>
            <a:r>
              <a:rPr dirty="0" sz="1100" spc="30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:</a:t>
            </a:r>
            <a:r>
              <a:rPr dirty="0" sz="1100" spc="35" b="1">
                <a:latin typeface="Arial"/>
                <a:cs typeface="Arial"/>
              </a:rPr>
              <a:t> </a:t>
            </a:r>
            <a:r>
              <a:rPr dirty="0" sz="1100" spc="-30">
                <a:latin typeface="Tahoma"/>
                <a:cs typeface="Tahoma"/>
              </a:rPr>
              <a:t>Documents</a:t>
            </a:r>
            <a:r>
              <a:rPr dirty="0" sz="1100" spc="-5">
                <a:latin typeface="Tahoma"/>
                <a:cs typeface="Tahoma"/>
              </a:rPr>
              <a:t> </a:t>
            </a:r>
            <a:r>
              <a:rPr dirty="0" sz="1100" spc="-50">
                <a:latin typeface="Tahoma"/>
                <a:cs typeface="Tahoma"/>
              </a:rPr>
              <a:t>in</a:t>
            </a:r>
            <a:r>
              <a:rPr dirty="0" sz="1100" spc="-90">
                <a:latin typeface="Tahoma"/>
                <a:cs typeface="Tahoma"/>
              </a:rPr>
              <a:t>g</a:t>
            </a:r>
            <a:r>
              <a:rPr dirty="0" sz="1100" spc="-625">
                <a:latin typeface="Tahoma"/>
                <a:cs typeface="Tahoma"/>
              </a:rPr>
              <a:t>´</a:t>
            </a:r>
            <a:r>
              <a:rPr dirty="0" sz="1100" spc="-50">
                <a:latin typeface="Tahoma"/>
                <a:cs typeface="Tahoma"/>
              </a:rPr>
              <a:t>es</a:t>
            </a:r>
            <a:r>
              <a:rPr dirty="0" sz="1100" spc="-85">
                <a:latin typeface="Tahoma"/>
                <a:cs typeface="Tahoma"/>
              </a:rPr>
              <a:t>t</a:t>
            </a:r>
            <a:r>
              <a:rPr dirty="0" sz="1100" spc="-625">
                <a:latin typeface="Tahoma"/>
                <a:cs typeface="Tahoma"/>
              </a:rPr>
              <a:t>´</a:t>
            </a:r>
            <a:r>
              <a:rPr dirty="0" sz="1100" spc="-50">
                <a:latin typeface="Tahoma"/>
                <a:cs typeface="Tahoma"/>
              </a:rPr>
              <a:t>es</a:t>
            </a:r>
            <a:r>
              <a:rPr dirty="0" sz="1100" spc="20">
                <a:latin typeface="Tahoma"/>
                <a:cs typeface="Tahoma"/>
              </a:rPr>
              <a:t> </a:t>
            </a:r>
            <a:r>
              <a:rPr dirty="0" sz="1100" spc="-45">
                <a:latin typeface="Tahoma"/>
                <a:cs typeface="Tahoma"/>
              </a:rPr>
              <a:t>avec</a:t>
            </a:r>
            <a:r>
              <a:rPr dirty="0" sz="1100">
                <a:latin typeface="Tahoma"/>
                <a:cs typeface="Tahoma"/>
              </a:rPr>
              <a:t> </a:t>
            </a:r>
            <a:r>
              <a:rPr dirty="0" sz="1100" spc="-60">
                <a:latin typeface="Tahoma"/>
                <a:cs typeface="Tahoma"/>
              </a:rPr>
              <a:t>suc</a:t>
            </a:r>
            <a:r>
              <a:rPr dirty="0" sz="1100" spc="-100">
                <a:latin typeface="Tahoma"/>
                <a:cs typeface="Tahoma"/>
              </a:rPr>
              <a:t>c</a:t>
            </a:r>
            <a:r>
              <a:rPr dirty="0" sz="1100" spc="-635">
                <a:latin typeface="Tahoma"/>
                <a:cs typeface="Tahoma"/>
              </a:rPr>
              <a:t>`</a:t>
            </a:r>
            <a:r>
              <a:rPr dirty="0" sz="1100" spc="-60">
                <a:latin typeface="Tahoma"/>
                <a:cs typeface="Tahoma"/>
              </a:rPr>
              <a:t>es</a:t>
            </a:r>
            <a:r>
              <a:rPr dirty="0" sz="1100" spc="15">
                <a:latin typeface="Tahoma"/>
                <a:cs typeface="Tahoma"/>
              </a:rPr>
              <a:t> </a:t>
            </a:r>
            <a:r>
              <a:rPr dirty="0" sz="1100" spc="-50">
                <a:latin typeface="Tahoma"/>
                <a:cs typeface="Tahoma"/>
              </a:rPr>
              <a:t>dans</a:t>
            </a:r>
            <a:r>
              <a:rPr dirty="0" sz="1100">
                <a:latin typeface="Tahoma"/>
                <a:cs typeface="Tahoma"/>
              </a:rPr>
              <a:t> </a:t>
            </a:r>
            <a:r>
              <a:rPr dirty="0" sz="1100" spc="-25">
                <a:latin typeface="Tahoma"/>
                <a:cs typeface="Tahoma"/>
              </a:rPr>
              <a:t>Elasticsearch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10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9877"/>
            <a:ext cx="181165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45">
                <a:solidFill>
                  <a:srgbClr val="FFFFFF"/>
                </a:solidFill>
                <a:latin typeface="Tahoma"/>
                <a:cs typeface="Tahoma"/>
              </a:rPr>
              <a:t>Dashboard</a:t>
            </a:r>
            <a:r>
              <a:rPr dirty="0" sz="1400" spc="-5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>
                <a:solidFill>
                  <a:srgbClr val="FFFFFF"/>
                </a:solidFill>
                <a:latin typeface="Tahoma"/>
                <a:cs typeface="Tahoma"/>
              </a:rPr>
              <a:t>1</a:t>
            </a:r>
            <a:r>
              <a:rPr dirty="0" sz="1400" spc="-45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>
                <a:solidFill>
                  <a:srgbClr val="FFFFFF"/>
                </a:solidFill>
                <a:latin typeface="Tahoma"/>
                <a:cs typeface="Tahoma"/>
              </a:rPr>
              <a:t>:</a:t>
            </a:r>
            <a:r>
              <a:rPr dirty="0" sz="1400" spc="-5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 spc="-40">
                <a:solidFill>
                  <a:srgbClr val="FFFFFF"/>
                </a:solidFill>
                <a:latin typeface="Tahoma"/>
                <a:cs typeface="Tahoma"/>
              </a:rPr>
              <a:t>Overview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636852" y="757464"/>
            <a:ext cx="248666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b="1">
                <a:latin typeface="Arial"/>
                <a:cs typeface="Arial"/>
              </a:rPr>
              <a:t>Vue </a:t>
            </a:r>
            <a:r>
              <a:rPr dirty="0" sz="1100" spc="-50" b="1">
                <a:latin typeface="Arial"/>
                <a:cs typeface="Arial"/>
              </a:rPr>
              <a:t>d’ensemble</a:t>
            </a:r>
            <a:r>
              <a:rPr dirty="0" sz="1100" spc="5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de</a:t>
            </a:r>
            <a:r>
              <a:rPr dirty="0" sz="1100" spc="5" b="1">
                <a:latin typeface="Arial"/>
                <a:cs typeface="Arial"/>
              </a:rPr>
              <a:t> </a:t>
            </a:r>
            <a:r>
              <a:rPr dirty="0" sz="1100" spc="-40" b="1">
                <a:latin typeface="Arial"/>
                <a:cs typeface="Arial"/>
              </a:rPr>
              <a:t>l’activit´e</a:t>
            </a:r>
            <a:r>
              <a:rPr dirty="0" sz="1100" spc="5" b="1">
                <a:latin typeface="Arial"/>
                <a:cs typeface="Arial"/>
              </a:rPr>
              <a:t> </a:t>
            </a:r>
            <a:r>
              <a:rPr dirty="0" sz="1100" spc="-65" b="1">
                <a:latin typeface="Arial"/>
                <a:cs typeface="Arial"/>
              </a:rPr>
              <a:t>des</a:t>
            </a:r>
            <a:r>
              <a:rPr dirty="0" sz="1100" spc="10" b="1">
                <a:latin typeface="Arial"/>
                <a:cs typeface="Arial"/>
              </a:rPr>
              <a:t> </a:t>
            </a:r>
            <a:r>
              <a:rPr dirty="0" sz="1100" spc="-40" b="1">
                <a:latin typeface="Arial"/>
                <a:cs typeface="Arial"/>
              </a:rPr>
              <a:t>builds</a:t>
            </a:r>
            <a:endParaRPr sz="11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2367" y="1167443"/>
            <a:ext cx="2741277" cy="155298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926181" y="1161767"/>
            <a:ext cx="2741352" cy="1564325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10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9877"/>
            <a:ext cx="2355850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45">
                <a:solidFill>
                  <a:srgbClr val="FFFFFF"/>
                </a:solidFill>
                <a:latin typeface="Tahoma"/>
                <a:cs typeface="Tahoma"/>
              </a:rPr>
              <a:t>Dashboard</a:t>
            </a:r>
            <a:r>
              <a:rPr dirty="0" sz="1400" spc="-5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>
                <a:solidFill>
                  <a:srgbClr val="FFFFFF"/>
                </a:solidFill>
                <a:latin typeface="Tahoma"/>
                <a:cs typeface="Tahoma"/>
              </a:rPr>
              <a:t>1</a:t>
            </a:r>
            <a:r>
              <a:rPr dirty="0" sz="1400" spc="-5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>
                <a:solidFill>
                  <a:srgbClr val="FFFFFF"/>
                </a:solidFill>
                <a:latin typeface="Tahoma"/>
                <a:cs typeface="Tahoma"/>
              </a:rPr>
              <a:t>:</a:t>
            </a:r>
            <a:r>
              <a:rPr dirty="0" sz="1400" spc="-45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 spc="-40">
                <a:solidFill>
                  <a:srgbClr val="FFFFFF"/>
                </a:solidFill>
                <a:latin typeface="Tahoma"/>
                <a:cs typeface="Tahoma"/>
              </a:rPr>
              <a:t>Overview</a:t>
            </a:r>
            <a:r>
              <a:rPr dirty="0" sz="1400" spc="-5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 spc="-10">
                <a:solidFill>
                  <a:srgbClr val="FFFFFF"/>
                </a:solidFill>
                <a:latin typeface="Tahoma"/>
                <a:cs typeface="Tahoma"/>
              </a:rPr>
              <a:t>(suite)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2367" y="927795"/>
            <a:ext cx="2741352" cy="1552222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926181" y="922398"/>
            <a:ext cx="2741314" cy="1563003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10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45"/>
              <a:t>Dashboard</a:t>
            </a:r>
            <a:r>
              <a:rPr dirty="0" spc="-50"/>
              <a:t> </a:t>
            </a:r>
            <a:r>
              <a:rPr dirty="0"/>
              <a:t>1</a:t>
            </a:r>
            <a:r>
              <a:rPr dirty="0" spc="-50"/>
              <a:t> </a:t>
            </a:r>
            <a:r>
              <a:rPr dirty="0"/>
              <a:t>:</a:t>
            </a:r>
            <a:r>
              <a:rPr dirty="0" spc="-45"/>
              <a:t> </a:t>
            </a:r>
            <a:r>
              <a:rPr dirty="0" spc="-40"/>
              <a:t>Overview</a:t>
            </a:r>
            <a:r>
              <a:rPr dirty="0" spc="-50"/>
              <a:t> </a:t>
            </a:r>
            <a:r>
              <a:rPr dirty="0" spc="-20"/>
              <a:t>(fin)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0996" y="489187"/>
            <a:ext cx="3838008" cy="2211302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34517" y="2813124"/>
            <a:ext cx="469265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55" b="1">
                <a:latin typeface="Arial"/>
                <a:cs typeface="Arial"/>
              </a:rPr>
              <a:t>M´etriques</a:t>
            </a:r>
            <a:r>
              <a:rPr dirty="0" sz="1100" spc="10" b="1">
                <a:latin typeface="Arial"/>
                <a:cs typeface="Arial"/>
              </a:rPr>
              <a:t> </a:t>
            </a:r>
            <a:r>
              <a:rPr dirty="0" sz="1100" spc="-135" b="1">
                <a:latin typeface="Arial"/>
                <a:cs typeface="Arial"/>
              </a:rPr>
              <a:t>cl´es</a:t>
            </a:r>
            <a:r>
              <a:rPr dirty="0" sz="1100" spc="60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:</a:t>
            </a:r>
            <a:r>
              <a:rPr dirty="0" sz="1100" spc="20" b="1">
                <a:latin typeface="Arial"/>
                <a:cs typeface="Arial"/>
              </a:rPr>
              <a:t> </a:t>
            </a:r>
            <a:r>
              <a:rPr dirty="0" sz="1100">
                <a:latin typeface="Tahoma"/>
                <a:cs typeface="Tahoma"/>
              </a:rPr>
              <a:t>Total</a:t>
            </a:r>
            <a:r>
              <a:rPr dirty="0" sz="1100" spc="-20">
                <a:latin typeface="Tahoma"/>
                <a:cs typeface="Tahoma"/>
              </a:rPr>
              <a:t> </a:t>
            </a:r>
            <a:r>
              <a:rPr dirty="0" sz="1100" spc="-30">
                <a:latin typeface="Tahoma"/>
                <a:cs typeface="Tahoma"/>
              </a:rPr>
              <a:t>builds,</a:t>
            </a:r>
            <a:r>
              <a:rPr dirty="0" sz="1100" spc="-15">
                <a:latin typeface="Tahoma"/>
                <a:cs typeface="Tahoma"/>
              </a:rPr>
              <a:t> </a:t>
            </a:r>
            <a:r>
              <a:rPr dirty="0" sz="1100" spc="-20">
                <a:latin typeface="Tahoma"/>
                <a:cs typeface="Tahoma"/>
              </a:rPr>
              <a:t>Taux</a:t>
            </a:r>
            <a:r>
              <a:rPr dirty="0" sz="1100" spc="-15">
                <a:latin typeface="Tahoma"/>
                <a:cs typeface="Tahoma"/>
              </a:rPr>
              <a:t> </a:t>
            </a:r>
            <a:r>
              <a:rPr dirty="0" sz="1100" spc="-55">
                <a:latin typeface="Tahoma"/>
                <a:cs typeface="Tahoma"/>
              </a:rPr>
              <a:t>suc</a:t>
            </a:r>
            <a:r>
              <a:rPr dirty="0" sz="1100" spc="-95">
                <a:latin typeface="Tahoma"/>
                <a:cs typeface="Tahoma"/>
              </a:rPr>
              <a:t>c</a:t>
            </a:r>
            <a:r>
              <a:rPr dirty="0" sz="1100" spc="-630">
                <a:latin typeface="Tahoma"/>
                <a:cs typeface="Tahoma"/>
              </a:rPr>
              <a:t>`</a:t>
            </a:r>
            <a:r>
              <a:rPr dirty="0" sz="1100" spc="-55">
                <a:latin typeface="Tahoma"/>
                <a:cs typeface="Tahoma"/>
              </a:rPr>
              <a:t>es,</a:t>
            </a:r>
            <a:r>
              <a:rPr dirty="0" sz="1100" spc="20">
                <a:latin typeface="Tahoma"/>
                <a:cs typeface="Tahoma"/>
              </a:rPr>
              <a:t> </a:t>
            </a:r>
            <a:r>
              <a:rPr dirty="0" sz="1100" spc="-20">
                <a:latin typeface="Tahoma"/>
                <a:cs typeface="Tahoma"/>
              </a:rPr>
              <a:t>Distribution,</a:t>
            </a:r>
            <a:r>
              <a:rPr dirty="0" sz="1100" spc="-15">
                <a:latin typeface="Tahoma"/>
                <a:cs typeface="Tahoma"/>
              </a:rPr>
              <a:t> </a:t>
            </a:r>
            <a:r>
              <a:rPr dirty="0" sz="1100" spc="-20">
                <a:latin typeface="Tahoma"/>
                <a:cs typeface="Tahoma"/>
              </a:rPr>
              <a:t>Timeline, </a:t>
            </a:r>
            <a:r>
              <a:rPr dirty="0" sz="1100">
                <a:latin typeface="Tahoma"/>
                <a:cs typeface="Tahoma"/>
              </a:rPr>
              <a:t>Top</a:t>
            </a:r>
            <a:r>
              <a:rPr dirty="0" sz="1100" spc="-15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builders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10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9877"/>
            <a:ext cx="2058670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45">
                <a:solidFill>
                  <a:srgbClr val="FFFFFF"/>
                </a:solidFill>
                <a:latin typeface="Tahoma"/>
                <a:cs typeface="Tahoma"/>
              </a:rPr>
              <a:t>Dashboard</a:t>
            </a:r>
            <a:r>
              <a:rPr dirty="0" sz="1400" spc="-5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>
                <a:solidFill>
                  <a:srgbClr val="FFFFFF"/>
                </a:solidFill>
                <a:latin typeface="Tahoma"/>
                <a:cs typeface="Tahoma"/>
              </a:rPr>
              <a:t>2</a:t>
            </a:r>
            <a:r>
              <a:rPr dirty="0" sz="1400" spc="-45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>
                <a:solidFill>
                  <a:srgbClr val="FFFFFF"/>
                </a:solidFill>
                <a:latin typeface="Tahoma"/>
                <a:cs typeface="Tahoma"/>
              </a:rPr>
              <a:t>:</a:t>
            </a:r>
            <a:r>
              <a:rPr dirty="0" sz="1400" spc="-5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 spc="-45">
                <a:solidFill>
                  <a:srgbClr val="FFFFFF"/>
                </a:solidFill>
                <a:latin typeface="Tahoma"/>
                <a:cs typeface="Tahoma"/>
              </a:rPr>
              <a:t>Performance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344980" y="747228"/>
            <a:ext cx="3070225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50" b="1">
                <a:latin typeface="Arial"/>
                <a:cs typeface="Arial"/>
              </a:rPr>
              <a:t>Analyse</a:t>
            </a:r>
            <a:r>
              <a:rPr dirty="0" sz="1100" spc="40" b="1">
                <a:latin typeface="Arial"/>
                <a:cs typeface="Arial"/>
              </a:rPr>
              <a:t> </a:t>
            </a:r>
            <a:r>
              <a:rPr dirty="0" sz="1100" spc="-65" b="1">
                <a:latin typeface="Arial"/>
                <a:cs typeface="Arial"/>
              </a:rPr>
              <a:t>des</a:t>
            </a:r>
            <a:r>
              <a:rPr dirty="0" sz="1100" spc="40" b="1">
                <a:latin typeface="Arial"/>
                <a:cs typeface="Arial"/>
              </a:rPr>
              <a:t> </a:t>
            </a:r>
            <a:r>
              <a:rPr dirty="0" sz="1100" spc="-50" b="1">
                <a:latin typeface="Arial"/>
                <a:cs typeface="Arial"/>
              </a:rPr>
              <a:t>performances</a:t>
            </a:r>
            <a:r>
              <a:rPr dirty="0" sz="1100" spc="50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et</a:t>
            </a:r>
            <a:r>
              <a:rPr dirty="0" sz="1100" spc="45" b="1">
                <a:latin typeface="Arial"/>
                <a:cs typeface="Arial"/>
              </a:rPr>
              <a:t> </a:t>
            </a:r>
            <a:r>
              <a:rPr dirty="0" sz="1100" spc="-110" b="1">
                <a:latin typeface="Arial"/>
                <a:cs typeface="Arial"/>
              </a:rPr>
              <a:t>dur´ees</a:t>
            </a:r>
            <a:r>
              <a:rPr dirty="0" sz="1100" spc="40" b="1">
                <a:latin typeface="Arial"/>
                <a:cs typeface="Arial"/>
              </a:rPr>
              <a:t> </a:t>
            </a:r>
            <a:r>
              <a:rPr dirty="0" sz="1100" spc="-60" b="1">
                <a:latin typeface="Arial"/>
                <a:cs typeface="Arial"/>
              </a:rPr>
              <a:t>d’ex´ecution</a:t>
            </a:r>
            <a:endParaRPr sz="11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2367" y="1184945"/>
            <a:ext cx="2741460" cy="155004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926181" y="1178456"/>
            <a:ext cx="2741314" cy="1563003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10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9877"/>
            <a:ext cx="260286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45">
                <a:solidFill>
                  <a:srgbClr val="FFFFFF"/>
                </a:solidFill>
                <a:latin typeface="Tahoma"/>
                <a:cs typeface="Tahoma"/>
              </a:rPr>
              <a:t>Dashboard </a:t>
            </a:r>
            <a:r>
              <a:rPr dirty="0" sz="1400">
                <a:solidFill>
                  <a:srgbClr val="FFFFFF"/>
                </a:solidFill>
                <a:latin typeface="Tahoma"/>
                <a:cs typeface="Tahoma"/>
              </a:rPr>
              <a:t>2</a:t>
            </a:r>
            <a:r>
              <a:rPr dirty="0" sz="1400" spc="-4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>
                <a:solidFill>
                  <a:srgbClr val="FFFFFF"/>
                </a:solidFill>
                <a:latin typeface="Tahoma"/>
                <a:cs typeface="Tahoma"/>
              </a:rPr>
              <a:t>:</a:t>
            </a:r>
            <a:r>
              <a:rPr dirty="0" sz="1400" spc="-45">
                <a:solidFill>
                  <a:srgbClr val="FFFFFF"/>
                </a:solidFill>
                <a:latin typeface="Tahoma"/>
                <a:cs typeface="Tahoma"/>
              </a:rPr>
              <a:t> Performance</a:t>
            </a:r>
            <a:r>
              <a:rPr dirty="0" sz="1400" spc="-4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 spc="-10">
                <a:solidFill>
                  <a:srgbClr val="FFFFFF"/>
                </a:solidFill>
                <a:latin typeface="Tahoma"/>
                <a:cs typeface="Tahoma"/>
              </a:rPr>
              <a:t>(suite)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2367" y="921985"/>
            <a:ext cx="2741334" cy="1569512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926181" y="911068"/>
            <a:ext cx="2741442" cy="1591314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10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45"/>
              <a:t>Dashboard </a:t>
            </a:r>
            <a:r>
              <a:rPr dirty="0"/>
              <a:t>2</a:t>
            </a:r>
            <a:r>
              <a:rPr dirty="0" spc="-40"/>
              <a:t> </a:t>
            </a:r>
            <a:r>
              <a:rPr dirty="0"/>
              <a:t>:</a:t>
            </a:r>
            <a:r>
              <a:rPr dirty="0" spc="-45"/>
              <a:t> Performance</a:t>
            </a:r>
            <a:r>
              <a:rPr dirty="0" spc="-40"/>
              <a:t> </a:t>
            </a:r>
            <a:r>
              <a:rPr dirty="0" spc="-20"/>
              <a:t>(fin)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0996" y="494829"/>
            <a:ext cx="3838008" cy="219435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876363" y="2807473"/>
            <a:ext cx="400812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dirty="0" sz="1100" spc="-65" b="1">
                <a:latin typeface="Arial"/>
                <a:cs typeface="Arial"/>
              </a:rPr>
              <a:t>Analyses</a:t>
            </a:r>
            <a:r>
              <a:rPr dirty="0" sz="1100" spc="20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:</a:t>
            </a:r>
            <a:r>
              <a:rPr dirty="0" sz="1100" spc="25" b="1">
                <a:latin typeface="Arial"/>
                <a:cs typeface="Arial"/>
              </a:rPr>
              <a:t> </a:t>
            </a:r>
            <a:r>
              <a:rPr dirty="0" sz="1100" spc="-45">
                <a:latin typeface="Tahoma"/>
                <a:cs typeface="Tahoma"/>
              </a:rPr>
              <a:t>Du</a:t>
            </a:r>
            <a:r>
              <a:rPr dirty="0" sz="1100" spc="-80">
                <a:latin typeface="Tahoma"/>
                <a:cs typeface="Tahoma"/>
              </a:rPr>
              <a:t>r</a:t>
            </a:r>
            <a:r>
              <a:rPr dirty="0" sz="1100" spc="-620">
                <a:latin typeface="Tahoma"/>
                <a:cs typeface="Tahoma"/>
              </a:rPr>
              <a:t>´</a:t>
            </a:r>
            <a:r>
              <a:rPr dirty="0" sz="1100" spc="-45">
                <a:latin typeface="Tahoma"/>
                <a:cs typeface="Tahoma"/>
              </a:rPr>
              <a:t>ee</a:t>
            </a:r>
            <a:r>
              <a:rPr dirty="0" sz="1100" spc="20">
                <a:latin typeface="Tahoma"/>
                <a:cs typeface="Tahoma"/>
              </a:rPr>
              <a:t> </a:t>
            </a:r>
            <a:r>
              <a:rPr dirty="0" sz="1100" spc="-65">
                <a:latin typeface="Tahoma"/>
                <a:cs typeface="Tahoma"/>
              </a:rPr>
              <a:t>moyenne,</a:t>
            </a:r>
            <a:r>
              <a:rPr dirty="0" sz="1100" spc="-15">
                <a:latin typeface="Tahoma"/>
                <a:cs typeface="Tahoma"/>
              </a:rPr>
              <a:t> </a:t>
            </a:r>
            <a:r>
              <a:rPr dirty="0" sz="1100" spc="-20">
                <a:latin typeface="Tahoma"/>
                <a:cs typeface="Tahoma"/>
              </a:rPr>
              <a:t>Distribution,</a:t>
            </a:r>
            <a:r>
              <a:rPr dirty="0" sz="1100" spc="-15">
                <a:latin typeface="Tahoma"/>
                <a:cs typeface="Tahoma"/>
              </a:rPr>
              <a:t> </a:t>
            </a:r>
            <a:r>
              <a:rPr dirty="0" sz="1100">
                <a:latin typeface="Tahoma"/>
                <a:cs typeface="Tahoma"/>
              </a:rPr>
              <a:t>Top</a:t>
            </a:r>
            <a:r>
              <a:rPr dirty="0" sz="1100" spc="-15">
                <a:latin typeface="Tahoma"/>
                <a:cs typeface="Tahoma"/>
              </a:rPr>
              <a:t> </a:t>
            </a:r>
            <a:r>
              <a:rPr dirty="0" sz="1100" spc="-45">
                <a:latin typeface="Tahoma"/>
                <a:cs typeface="Tahoma"/>
              </a:rPr>
              <a:t>steps</a:t>
            </a:r>
            <a:r>
              <a:rPr dirty="0" sz="1100" spc="-15">
                <a:latin typeface="Tahoma"/>
                <a:cs typeface="Tahoma"/>
              </a:rPr>
              <a:t> </a:t>
            </a:r>
            <a:r>
              <a:rPr dirty="0" sz="1100" spc="-25">
                <a:latin typeface="Tahoma"/>
                <a:cs typeface="Tahoma"/>
              </a:rPr>
              <a:t>lents, </a:t>
            </a:r>
            <a:r>
              <a:rPr dirty="0" sz="1100" spc="-565">
                <a:latin typeface="Tahoma"/>
                <a:cs typeface="Tahoma"/>
              </a:rPr>
              <a:t>E</a:t>
            </a:r>
            <a:r>
              <a:rPr dirty="0" baseline="12626" sz="1650" spc="82">
                <a:latin typeface="Tahoma"/>
                <a:cs typeface="Tahoma"/>
              </a:rPr>
              <a:t>´</a:t>
            </a:r>
            <a:r>
              <a:rPr dirty="0" sz="1100" spc="5">
                <a:latin typeface="Tahoma"/>
                <a:cs typeface="Tahoma"/>
              </a:rPr>
              <a:t>volution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10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9877"/>
            <a:ext cx="1891030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45">
                <a:solidFill>
                  <a:srgbClr val="FFFFFF"/>
                </a:solidFill>
                <a:latin typeface="Tahoma"/>
                <a:cs typeface="Tahoma"/>
              </a:rPr>
              <a:t>Dashboard</a:t>
            </a:r>
            <a:r>
              <a:rPr dirty="0" sz="1400" spc="-5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>
                <a:solidFill>
                  <a:srgbClr val="FFFFFF"/>
                </a:solidFill>
                <a:latin typeface="Tahoma"/>
                <a:cs typeface="Tahoma"/>
              </a:rPr>
              <a:t>3</a:t>
            </a:r>
            <a:r>
              <a:rPr dirty="0" sz="1400" spc="-45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>
                <a:solidFill>
                  <a:srgbClr val="FFFFFF"/>
                </a:solidFill>
                <a:latin typeface="Tahoma"/>
                <a:cs typeface="Tahoma"/>
              </a:rPr>
              <a:t>:</a:t>
            </a:r>
            <a:r>
              <a:rPr dirty="0" sz="1400" spc="-5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 spc="-35">
                <a:solidFill>
                  <a:srgbClr val="FFFFFF"/>
                </a:solidFill>
                <a:latin typeface="Tahoma"/>
                <a:cs typeface="Tahoma"/>
              </a:rPr>
              <a:t>Anomalies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750098" y="758620"/>
            <a:ext cx="2259965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45" b="1">
                <a:latin typeface="Arial"/>
                <a:cs typeface="Arial"/>
              </a:rPr>
              <a:t>D´etection</a:t>
            </a:r>
            <a:r>
              <a:rPr dirty="0" sz="1100" spc="30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et</a:t>
            </a:r>
            <a:r>
              <a:rPr dirty="0" sz="1100" spc="35" b="1">
                <a:latin typeface="Arial"/>
                <a:cs typeface="Arial"/>
              </a:rPr>
              <a:t> </a:t>
            </a:r>
            <a:r>
              <a:rPr dirty="0" sz="1100" spc="-50" b="1">
                <a:latin typeface="Arial"/>
                <a:cs typeface="Arial"/>
              </a:rPr>
              <a:t>analyse</a:t>
            </a:r>
            <a:r>
              <a:rPr dirty="0" sz="1100" spc="35" b="1">
                <a:latin typeface="Arial"/>
                <a:cs typeface="Arial"/>
              </a:rPr>
              <a:t> </a:t>
            </a:r>
            <a:r>
              <a:rPr dirty="0" sz="1100" spc="-65" b="1">
                <a:latin typeface="Arial"/>
                <a:cs typeface="Arial"/>
              </a:rPr>
              <a:t>des</a:t>
            </a:r>
            <a:r>
              <a:rPr dirty="0" sz="1100" spc="35" b="1">
                <a:latin typeface="Arial"/>
                <a:cs typeface="Arial"/>
              </a:rPr>
              <a:t> </a:t>
            </a:r>
            <a:r>
              <a:rPr dirty="0" sz="1100" spc="-50" b="1">
                <a:latin typeface="Arial"/>
                <a:cs typeface="Arial"/>
              </a:rPr>
              <a:t>anomalies</a:t>
            </a:r>
            <a:endParaRPr sz="11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8544" y="1063344"/>
            <a:ext cx="5482849" cy="1547140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10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9877"/>
            <a:ext cx="243522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45">
                <a:solidFill>
                  <a:srgbClr val="FFFFFF"/>
                </a:solidFill>
                <a:latin typeface="Tahoma"/>
                <a:cs typeface="Tahoma"/>
              </a:rPr>
              <a:t>Dashboard </a:t>
            </a:r>
            <a:r>
              <a:rPr dirty="0" sz="1400">
                <a:solidFill>
                  <a:srgbClr val="FFFFFF"/>
                </a:solidFill>
                <a:latin typeface="Tahoma"/>
                <a:cs typeface="Tahoma"/>
              </a:rPr>
              <a:t>3</a:t>
            </a:r>
            <a:r>
              <a:rPr dirty="0" sz="1400" spc="-45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>
                <a:solidFill>
                  <a:srgbClr val="FFFFFF"/>
                </a:solidFill>
                <a:latin typeface="Tahoma"/>
                <a:cs typeface="Tahoma"/>
              </a:rPr>
              <a:t>:</a:t>
            </a:r>
            <a:r>
              <a:rPr dirty="0" sz="1400" spc="-45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 spc="-35">
                <a:solidFill>
                  <a:srgbClr val="FFFFFF"/>
                </a:solidFill>
                <a:latin typeface="Tahoma"/>
                <a:cs typeface="Tahoma"/>
              </a:rPr>
              <a:t>Anomalies</a:t>
            </a:r>
            <a:r>
              <a:rPr dirty="0" sz="1400" spc="-4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 spc="-10">
                <a:solidFill>
                  <a:srgbClr val="FFFFFF"/>
                </a:solidFill>
                <a:latin typeface="Tahoma"/>
                <a:cs typeface="Tahoma"/>
              </a:rPr>
              <a:t>(suite)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2367" y="925933"/>
            <a:ext cx="2741383" cy="155657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926181" y="921109"/>
            <a:ext cx="2741554" cy="1566172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10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45"/>
              <a:t>Dashboard </a:t>
            </a:r>
            <a:r>
              <a:rPr dirty="0"/>
              <a:t>3</a:t>
            </a:r>
            <a:r>
              <a:rPr dirty="0" spc="-45"/>
              <a:t> </a:t>
            </a:r>
            <a:r>
              <a:rPr dirty="0"/>
              <a:t>:</a:t>
            </a:r>
            <a:r>
              <a:rPr dirty="0" spc="-45"/>
              <a:t> </a:t>
            </a:r>
            <a:r>
              <a:rPr dirty="0" spc="-35"/>
              <a:t>Anomalies</a:t>
            </a:r>
            <a:r>
              <a:rPr dirty="0" spc="-40"/>
              <a:t> </a:t>
            </a:r>
            <a:r>
              <a:rPr dirty="0" spc="-20"/>
              <a:t>(fin)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8544" y="683445"/>
            <a:ext cx="5482871" cy="156954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05473" y="2387687"/>
            <a:ext cx="5349875" cy="363855"/>
          </a:xfrm>
          <a:prstGeom prst="rect">
            <a:avLst/>
          </a:prstGeom>
        </p:spPr>
        <p:txBody>
          <a:bodyPr wrap="square" lIns="0" tIns="6985" rIns="0" bIns="0" rtlCol="0" vert="horz">
            <a:spAutoFit/>
          </a:bodyPr>
          <a:lstStyle/>
          <a:p>
            <a:pPr marL="2413000" marR="5080" indent="-2400935">
              <a:lnSpc>
                <a:spcPct val="102699"/>
              </a:lnSpc>
              <a:spcBef>
                <a:spcPts val="55"/>
              </a:spcBef>
            </a:pPr>
            <a:r>
              <a:rPr dirty="0" sz="1100" spc="-55" b="1">
                <a:latin typeface="Arial"/>
                <a:cs typeface="Arial"/>
              </a:rPr>
              <a:t>M´etriques</a:t>
            </a:r>
            <a:r>
              <a:rPr dirty="0" sz="1100" spc="10" b="1">
                <a:latin typeface="Arial"/>
                <a:cs typeface="Arial"/>
              </a:rPr>
              <a:t> </a:t>
            </a:r>
            <a:r>
              <a:rPr dirty="0" sz="1100" spc="-135" b="1">
                <a:latin typeface="Arial"/>
                <a:cs typeface="Arial"/>
              </a:rPr>
              <a:t>cl´es</a:t>
            </a:r>
            <a:r>
              <a:rPr dirty="0" sz="1100" spc="60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:</a:t>
            </a:r>
            <a:r>
              <a:rPr dirty="0" sz="1100" spc="10" b="1">
                <a:latin typeface="Arial"/>
                <a:cs typeface="Arial"/>
              </a:rPr>
              <a:t> </a:t>
            </a:r>
            <a:r>
              <a:rPr dirty="0" sz="1100" spc="-40">
                <a:latin typeface="Tahoma"/>
                <a:cs typeface="Tahoma"/>
              </a:rPr>
              <a:t>Nombre</a:t>
            </a:r>
            <a:r>
              <a:rPr dirty="0" sz="1100" spc="-25">
                <a:latin typeface="Tahoma"/>
                <a:cs typeface="Tahoma"/>
              </a:rPr>
              <a:t> </a:t>
            </a:r>
            <a:r>
              <a:rPr dirty="0" sz="1100">
                <a:latin typeface="Tahoma"/>
                <a:cs typeface="Tahoma"/>
              </a:rPr>
              <a:t>et</a:t>
            </a:r>
            <a:r>
              <a:rPr dirty="0" sz="1100" spc="-20">
                <a:latin typeface="Tahoma"/>
                <a:cs typeface="Tahoma"/>
              </a:rPr>
              <a:t> </a:t>
            </a:r>
            <a:r>
              <a:rPr dirty="0" sz="1100" spc="-25">
                <a:latin typeface="Tahoma"/>
                <a:cs typeface="Tahoma"/>
              </a:rPr>
              <a:t>timeline </a:t>
            </a:r>
            <a:r>
              <a:rPr dirty="0" sz="1100" spc="-60">
                <a:latin typeface="Tahoma"/>
                <a:cs typeface="Tahoma"/>
              </a:rPr>
              <a:t>des</a:t>
            </a:r>
            <a:r>
              <a:rPr dirty="0" sz="1100" spc="-30">
                <a:latin typeface="Tahoma"/>
                <a:cs typeface="Tahoma"/>
              </a:rPr>
              <a:t> </a:t>
            </a:r>
            <a:r>
              <a:rPr dirty="0" sz="1100" spc="-50">
                <a:latin typeface="Tahoma"/>
                <a:cs typeface="Tahoma"/>
              </a:rPr>
              <a:t>erreurs,</a:t>
            </a:r>
            <a:r>
              <a:rPr dirty="0" sz="1100" spc="-25">
                <a:latin typeface="Tahoma"/>
                <a:cs typeface="Tahoma"/>
              </a:rPr>
              <a:t> </a:t>
            </a:r>
            <a:r>
              <a:rPr dirty="0" sz="1100">
                <a:latin typeface="Tahoma"/>
                <a:cs typeface="Tahoma"/>
              </a:rPr>
              <a:t>Top</a:t>
            </a:r>
            <a:r>
              <a:rPr dirty="0" sz="1100" spc="-20">
                <a:latin typeface="Tahoma"/>
                <a:cs typeface="Tahoma"/>
              </a:rPr>
              <a:t> </a:t>
            </a:r>
            <a:r>
              <a:rPr dirty="0" sz="1100" spc="-80">
                <a:latin typeface="Tahoma"/>
                <a:cs typeface="Tahoma"/>
              </a:rPr>
              <a:t>messages</a:t>
            </a:r>
            <a:r>
              <a:rPr dirty="0" sz="1100" spc="-10">
                <a:latin typeface="Tahoma"/>
                <a:cs typeface="Tahoma"/>
              </a:rPr>
              <a:t> </a:t>
            </a:r>
            <a:r>
              <a:rPr dirty="0" sz="1100" spc="-40">
                <a:latin typeface="Tahoma"/>
                <a:cs typeface="Tahoma"/>
              </a:rPr>
              <a:t>d’erreurs,</a:t>
            </a:r>
            <a:r>
              <a:rPr dirty="0" sz="1100" spc="-25">
                <a:latin typeface="Tahoma"/>
                <a:cs typeface="Tahoma"/>
              </a:rPr>
              <a:t> </a:t>
            </a:r>
            <a:r>
              <a:rPr dirty="0" sz="1100" spc="-30">
                <a:latin typeface="Tahoma"/>
                <a:cs typeface="Tahoma"/>
              </a:rPr>
              <a:t>Steps</a:t>
            </a:r>
            <a:r>
              <a:rPr dirty="0" sz="1100" spc="-20">
                <a:latin typeface="Tahoma"/>
                <a:cs typeface="Tahoma"/>
              </a:rPr>
              <a:t> </a:t>
            </a:r>
            <a:r>
              <a:rPr dirty="0" sz="1100" spc="-45">
                <a:latin typeface="Tahoma"/>
                <a:cs typeface="Tahoma"/>
              </a:rPr>
              <a:t>avec</a:t>
            </a:r>
            <a:r>
              <a:rPr dirty="0" sz="1100" spc="-25">
                <a:latin typeface="Tahoma"/>
                <a:cs typeface="Tahoma"/>
              </a:rPr>
              <a:t> </a:t>
            </a:r>
            <a:r>
              <a:rPr dirty="0" sz="1100" spc="-15">
                <a:latin typeface="Tahoma"/>
                <a:cs typeface="Tahoma"/>
              </a:rPr>
              <a:t>du</a:t>
            </a:r>
            <a:r>
              <a:rPr dirty="0" sz="1100" spc="-50">
                <a:latin typeface="Tahoma"/>
                <a:cs typeface="Tahoma"/>
              </a:rPr>
              <a:t>r</a:t>
            </a:r>
            <a:r>
              <a:rPr dirty="0" sz="1100" spc="-590">
                <a:latin typeface="Tahoma"/>
                <a:cs typeface="Tahoma"/>
              </a:rPr>
              <a:t>´</a:t>
            </a:r>
            <a:r>
              <a:rPr dirty="0" sz="1100" spc="-15">
                <a:latin typeface="Tahoma"/>
                <a:cs typeface="Tahoma"/>
              </a:rPr>
              <a:t>ee</a:t>
            </a:r>
            <a:r>
              <a:rPr dirty="0" sz="1100" spc="-120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anormale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10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70"/>
              <a:t>D</a:t>
            </a:r>
            <a:r>
              <a:rPr dirty="0" spc="-755"/>
              <a:t>´</a:t>
            </a:r>
            <a:r>
              <a:rPr dirty="0" spc="-30"/>
              <a:t>etection</a:t>
            </a:r>
            <a:r>
              <a:rPr dirty="0" spc="35"/>
              <a:t> </a:t>
            </a:r>
            <a:r>
              <a:rPr dirty="0" spc="-30"/>
              <a:t>d’Anomalies</a:t>
            </a:r>
            <a:r>
              <a:rPr dirty="0" spc="40"/>
              <a:t> </a:t>
            </a:r>
            <a:r>
              <a:rPr dirty="0" spc="70"/>
              <a:t>ML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5113" y="519081"/>
            <a:ext cx="3289645" cy="153345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2308643"/>
            <a:ext cx="65265" cy="6526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2518676"/>
            <a:ext cx="65265" cy="65265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1893493" y="2583941"/>
            <a:ext cx="41910" cy="0"/>
          </a:xfrm>
          <a:custGeom>
            <a:avLst/>
            <a:gdLst/>
            <a:ahLst/>
            <a:cxnLst/>
            <a:rect l="l" t="t" r="r" b="b"/>
            <a:pathLst>
              <a:path w="41910" h="0">
                <a:moveTo>
                  <a:pt x="0" y="0"/>
                </a:moveTo>
                <a:lnTo>
                  <a:pt x="41567" y="0"/>
                </a:lnTo>
              </a:path>
            </a:pathLst>
          </a:custGeom>
          <a:ln w="505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402932" y="2181413"/>
            <a:ext cx="2658745" cy="8661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algn="just" marL="12700" marR="785495">
              <a:lnSpc>
                <a:spcPct val="125299"/>
              </a:lnSpc>
              <a:spcBef>
                <a:spcPts val="100"/>
              </a:spcBef>
            </a:pPr>
            <a:r>
              <a:rPr dirty="0" sz="1100" spc="-20" b="1">
                <a:latin typeface="Arial"/>
                <a:cs typeface="Arial"/>
              </a:rPr>
              <a:t>Job</a:t>
            </a:r>
            <a:r>
              <a:rPr dirty="0" sz="1100" spc="5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:</a:t>
            </a:r>
            <a:r>
              <a:rPr dirty="0" sz="1100" spc="50" b="1">
                <a:latin typeface="Arial"/>
                <a:cs typeface="Arial"/>
              </a:rPr>
              <a:t> </a:t>
            </a:r>
            <a:r>
              <a:rPr dirty="0" sz="1100" spc="-65">
                <a:latin typeface="Tahoma"/>
                <a:cs typeface="Tahoma"/>
              </a:rPr>
              <a:t>D</a:t>
            </a:r>
            <a:r>
              <a:rPr dirty="0" sz="1100" spc="-605">
                <a:latin typeface="Tahoma"/>
                <a:cs typeface="Tahoma"/>
              </a:rPr>
              <a:t>´</a:t>
            </a:r>
            <a:r>
              <a:rPr dirty="0" sz="1100" spc="-30">
                <a:latin typeface="Tahoma"/>
                <a:cs typeface="Tahoma"/>
              </a:rPr>
              <a:t>etection</a:t>
            </a:r>
            <a:r>
              <a:rPr dirty="0" sz="1100" spc="20">
                <a:latin typeface="Tahoma"/>
                <a:cs typeface="Tahoma"/>
              </a:rPr>
              <a:t> </a:t>
            </a:r>
            <a:r>
              <a:rPr dirty="0" sz="1100" spc="-85">
                <a:latin typeface="Tahoma"/>
                <a:cs typeface="Tahoma"/>
              </a:rPr>
              <a:t>d</a:t>
            </a:r>
            <a:r>
              <a:rPr dirty="0" sz="1100" spc="-75">
                <a:latin typeface="Tahoma"/>
                <a:cs typeface="Tahoma"/>
              </a:rPr>
              <a:t>u</a:t>
            </a:r>
            <a:r>
              <a:rPr dirty="0" sz="1100" spc="-110">
                <a:latin typeface="Tahoma"/>
                <a:cs typeface="Tahoma"/>
              </a:rPr>
              <a:t>r</a:t>
            </a:r>
            <a:r>
              <a:rPr dirty="0" sz="1100" spc="-655">
                <a:latin typeface="Tahoma"/>
                <a:cs typeface="Tahoma"/>
              </a:rPr>
              <a:t>´</a:t>
            </a:r>
            <a:r>
              <a:rPr dirty="0" sz="1100" spc="-75">
                <a:latin typeface="Tahoma"/>
                <a:cs typeface="Tahoma"/>
              </a:rPr>
              <a:t>ee</a:t>
            </a:r>
            <a:r>
              <a:rPr dirty="0" sz="1100" spc="90">
                <a:latin typeface="Tahoma"/>
                <a:cs typeface="Tahoma"/>
              </a:rPr>
              <a:t> </a:t>
            </a:r>
            <a:r>
              <a:rPr dirty="0" sz="1100" spc="-50">
                <a:latin typeface="Tahoma"/>
                <a:cs typeface="Tahoma"/>
              </a:rPr>
              <a:t>anormale </a:t>
            </a:r>
            <a:r>
              <a:rPr dirty="0" sz="1100" spc="-35" b="1">
                <a:latin typeface="Arial"/>
                <a:cs typeface="Arial"/>
              </a:rPr>
              <a:t>Fonction</a:t>
            </a:r>
            <a:r>
              <a:rPr dirty="0" sz="1100" spc="30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:</a:t>
            </a:r>
            <a:r>
              <a:rPr dirty="0" sz="1100" spc="5" b="1">
                <a:latin typeface="Arial"/>
                <a:cs typeface="Arial"/>
              </a:rPr>
              <a:t> </a:t>
            </a:r>
            <a:r>
              <a:rPr dirty="0" sz="1100" spc="-55">
                <a:latin typeface="Tahoma"/>
                <a:cs typeface="Tahoma"/>
              </a:rPr>
              <a:t>mean(elapsed</a:t>
            </a:r>
            <a:r>
              <a:rPr dirty="0" sz="1100" spc="-10">
                <a:latin typeface="Tahoma"/>
                <a:cs typeface="Tahoma"/>
              </a:rPr>
              <a:t> time) </a:t>
            </a:r>
            <a:r>
              <a:rPr dirty="0" sz="1100" spc="-20" b="1">
                <a:latin typeface="Arial"/>
                <a:cs typeface="Arial"/>
              </a:rPr>
              <a:t>Bucket</a:t>
            </a:r>
            <a:r>
              <a:rPr dirty="0" sz="1100" spc="20" b="1">
                <a:latin typeface="Arial"/>
                <a:cs typeface="Arial"/>
              </a:rPr>
              <a:t> </a:t>
            </a:r>
            <a:r>
              <a:rPr dirty="0" sz="1100" spc="-65" b="1">
                <a:latin typeface="Arial"/>
                <a:cs typeface="Arial"/>
              </a:rPr>
              <a:t>span</a:t>
            </a:r>
            <a:r>
              <a:rPr dirty="0" sz="1100" spc="20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:</a:t>
            </a:r>
            <a:r>
              <a:rPr dirty="0" sz="1100" spc="-10" b="1">
                <a:latin typeface="Arial"/>
                <a:cs typeface="Arial"/>
              </a:rPr>
              <a:t> </a:t>
            </a:r>
            <a:r>
              <a:rPr dirty="0" sz="1100" spc="-20">
                <a:latin typeface="Tahoma"/>
                <a:cs typeface="Tahoma"/>
              </a:rPr>
              <a:t>15</a:t>
            </a:r>
            <a:r>
              <a:rPr dirty="0" sz="1100" spc="-50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minutes</a:t>
            </a:r>
            <a:endParaRPr sz="1100">
              <a:latin typeface="Tahoma"/>
              <a:cs typeface="Tahoma"/>
            </a:endParaRPr>
          </a:p>
          <a:p>
            <a:pPr algn="just" marL="12700">
              <a:lnSpc>
                <a:spcPct val="100000"/>
              </a:lnSpc>
              <a:spcBef>
                <a:spcPts val="335"/>
              </a:spcBef>
            </a:pPr>
            <a:r>
              <a:rPr dirty="0" sz="1100" spc="-60" b="1">
                <a:latin typeface="Arial"/>
                <a:cs typeface="Arial"/>
              </a:rPr>
              <a:t>R´esultat</a:t>
            </a:r>
            <a:r>
              <a:rPr dirty="0" sz="1100" spc="75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:</a:t>
            </a:r>
            <a:r>
              <a:rPr dirty="0" sz="1100" spc="40" b="1">
                <a:latin typeface="Arial"/>
                <a:cs typeface="Arial"/>
              </a:rPr>
              <a:t> </a:t>
            </a:r>
            <a:r>
              <a:rPr dirty="0" sz="1100" spc="-65">
                <a:latin typeface="Tahoma"/>
                <a:cs typeface="Tahoma"/>
              </a:rPr>
              <a:t>D</a:t>
            </a:r>
            <a:r>
              <a:rPr dirty="0" sz="1100" spc="-605">
                <a:latin typeface="Tahoma"/>
                <a:cs typeface="Tahoma"/>
              </a:rPr>
              <a:t>´</a:t>
            </a:r>
            <a:r>
              <a:rPr dirty="0" sz="1100" spc="-30">
                <a:latin typeface="Tahoma"/>
                <a:cs typeface="Tahoma"/>
              </a:rPr>
              <a:t>etection</a:t>
            </a:r>
            <a:r>
              <a:rPr dirty="0" sz="1100" spc="5">
                <a:latin typeface="Tahoma"/>
                <a:cs typeface="Tahoma"/>
              </a:rPr>
              <a:t> </a:t>
            </a:r>
            <a:r>
              <a:rPr dirty="0" sz="1100" spc="-35">
                <a:latin typeface="Tahoma"/>
                <a:cs typeface="Tahoma"/>
              </a:rPr>
              <a:t>automatique</a:t>
            </a:r>
            <a:r>
              <a:rPr dirty="0" sz="1100" spc="5">
                <a:latin typeface="Tahoma"/>
                <a:cs typeface="Tahoma"/>
              </a:rPr>
              <a:t> </a:t>
            </a:r>
            <a:r>
              <a:rPr dirty="0" sz="1100" spc="-50">
                <a:latin typeface="Tahoma"/>
                <a:cs typeface="Tahoma"/>
              </a:rPr>
              <a:t>temps</a:t>
            </a:r>
            <a:r>
              <a:rPr dirty="0" sz="1100">
                <a:latin typeface="Tahoma"/>
                <a:cs typeface="Tahoma"/>
              </a:rPr>
              <a:t> </a:t>
            </a:r>
            <a:r>
              <a:rPr dirty="0" sz="1100" spc="-40">
                <a:latin typeface="Tahoma"/>
                <a:cs typeface="Tahoma"/>
              </a:rPr>
              <a:t>r</a:t>
            </a:r>
            <a:r>
              <a:rPr dirty="0" sz="1100" spc="-580">
                <a:latin typeface="Tahoma"/>
                <a:cs typeface="Tahoma"/>
              </a:rPr>
              <a:t>´</a:t>
            </a:r>
            <a:r>
              <a:rPr dirty="0" sz="1100" spc="-5">
                <a:latin typeface="Tahoma"/>
                <a:cs typeface="Tahoma"/>
              </a:rPr>
              <a:t>eel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8" name="object 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81089" y="2728709"/>
            <a:ext cx="65265" cy="65265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1089" y="2938741"/>
            <a:ext cx="65265" cy="65265"/>
          </a:xfrm>
          <a:prstGeom prst="rect">
            <a:avLst/>
          </a:prstGeom>
        </p:spPr>
      </p:pic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10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70"/>
              <a:t>M</a:t>
            </a:r>
            <a:r>
              <a:rPr dirty="0" spc="-755"/>
              <a:t>´</a:t>
            </a:r>
            <a:r>
              <a:rPr dirty="0" spc="-30"/>
              <a:t>etriques</a:t>
            </a:r>
            <a:r>
              <a:rPr dirty="0" spc="5"/>
              <a:t> </a:t>
            </a:r>
            <a:r>
              <a:rPr dirty="0"/>
              <a:t>et</a:t>
            </a:r>
            <a:r>
              <a:rPr dirty="0" spc="5"/>
              <a:t> </a:t>
            </a:r>
            <a:r>
              <a:rPr dirty="0" spc="-55"/>
              <a:t>Insights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4911" y="1048867"/>
            <a:ext cx="65265" cy="6526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4911" y="1258900"/>
            <a:ext cx="65265" cy="6526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34911" y="1468932"/>
            <a:ext cx="65265" cy="652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34911" y="1678965"/>
            <a:ext cx="65265" cy="65265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79667" y="711616"/>
            <a:ext cx="1631950" cy="107569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289560" marR="5080" indent="-277495">
              <a:lnSpc>
                <a:spcPct val="125299"/>
              </a:lnSpc>
              <a:spcBef>
                <a:spcPts val="100"/>
              </a:spcBef>
            </a:pPr>
            <a:r>
              <a:rPr dirty="0" sz="1100" spc="-55" b="1">
                <a:latin typeface="Arial"/>
                <a:cs typeface="Arial"/>
              </a:rPr>
              <a:t>M´etriques</a:t>
            </a:r>
            <a:r>
              <a:rPr dirty="0" sz="1100" spc="25" b="1">
                <a:latin typeface="Arial"/>
                <a:cs typeface="Arial"/>
              </a:rPr>
              <a:t> </a:t>
            </a:r>
            <a:r>
              <a:rPr dirty="0" sz="1100" spc="-40" b="1">
                <a:latin typeface="Arial"/>
                <a:cs typeface="Arial"/>
              </a:rPr>
              <a:t>Obtenues</a:t>
            </a:r>
            <a:r>
              <a:rPr dirty="0" sz="1100" spc="30" b="1">
                <a:latin typeface="Arial"/>
                <a:cs typeface="Arial"/>
              </a:rPr>
              <a:t> </a:t>
            </a:r>
            <a:r>
              <a:rPr dirty="0" sz="1100" spc="-50" b="1">
                <a:latin typeface="Arial"/>
                <a:cs typeface="Arial"/>
              </a:rPr>
              <a:t>: </a:t>
            </a:r>
            <a:r>
              <a:rPr dirty="0" sz="1100" spc="-40">
                <a:latin typeface="Tahoma"/>
                <a:cs typeface="Tahoma"/>
              </a:rPr>
              <a:t>Nombre </a:t>
            </a:r>
            <a:r>
              <a:rPr dirty="0" sz="1100">
                <a:latin typeface="Tahoma"/>
                <a:cs typeface="Tahoma"/>
              </a:rPr>
              <a:t>total</a:t>
            </a:r>
            <a:r>
              <a:rPr dirty="0" sz="1100" spc="-40">
                <a:latin typeface="Tahoma"/>
                <a:cs typeface="Tahoma"/>
              </a:rPr>
              <a:t> </a:t>
            </a:r>
            <a:r>
              <a:rPr dirty="0" sz="1100" spc="-35">
                <a:latin typeface="Tahoma"/>
                <a:cs typeface="Tahoma"/>
              </a:rPr>
              <a:t>de</a:t>
            </a:r>
            <a:r>
              <a:rPr dirty="0" sz="1100" spc="-40">
                <a:latin typeface="Tahoma"/>
                <a:cs typeface="Tahoma"/>
              </a:rPr>
              <a:t> builds </a:t>
            </a:r>
            <a:r>
              <a:rPr dirty="0" sz="1100" spc="-20">
                <a:latin typeface="Tahoma"/>
                <a:cs typeface="Tahoma"/>
              </a:rPr>
              <a:t>Taux</a:t>
            </a:r>
            <a:r>
              <a:rPr dirty="0" sz="1100" spc="-60">
                <a:latin typeface="Tahoma"/>
                <a:cs typeface="Tahoma"/>
              </a:rPr>
              <a:t> </a:t>
            </a:r>
            <a:r>
              <a:rPr dirty="0" sz="1100" spc="-35">
                <a:latin typeface="Tahoma"/>
                <a:cs typeface="Tahoma"/>
              </a:rPr>
              <a:t>de</a:t>
            </a:r>
            <a:r>
              <a:rPr dirty="0" sz="1100" spc="-15">
                <a:latin typeface="Tahoma"/>
                <a:cs typeface="Tahoma"/>
              </a:rPr>
              <a:t> </a:t>
            </a:r>
            <a:r>
              <a:rPr dirty="0" sz="1100" spc="-60">
                <a:latin typeface="Tahoma"/>
                <a:cs typeface="Tahoma"/>
              </a:rPr>
              <a:t>suc</a:t>
            </a:r>
            <a:r>
              <a:rPr dirty="0" sz="1100" spc="-95">
                <a:latin typeface="Tahoma"/>
                <a:cs typeface="Tahoma"/>
              </a:rPr>
              <a:t>c</a:t>
            </a:r>
            <a:r>
              <a:rPr dirty="0" sz="1100" spc="-640">
                <a:latin typeface="Tahoma"/>
                <a:cs typeface="Tahoma"/>
              </a:rPr>
              <a:t>`</a:t>
            </a:r>
            <a:r>
              <a:rPr dirty="0" sz="1100" spc="-60">
                <a:latin typeface="Tahoma"/>
                <a:cs typeface="Tahoma"/>
              </a:rPr>
              <a:t>es</a:t>
            </a:r>
            <a:r>
              <a:rPr dirty="0" sz="1100" spc="20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global </a:t>
            </a:r>
            <a:r>
              <a:rPr dirty="0" sz="1100" spc="-50">
                <a:latin typeface="Tahoma"/>
                <a:cs typeface="Tahoma"/>
              </a:rPr>
              <a:t>Du</a:t>
            </a:r>
            <a:r>
              <a:rPr dirty="0" sz="1100" spc="-85">
                <a:latin typeface="Tahoma"/>
                <a:cs typeface="Tahoma"/>
              </a:rPr>
              <a:t>r</a:t>
            </a:r>
            <a:r>
              <a:rPr dirty="0" sz="1100" spc="-625">
                <a:latin typeface="Tahoma"/>
                <a:cs typeface="Tahoma"/>
              </a:rPr>
              <a:t>´</a:t>
            </a:r>
            <a:r>
              <a:rPr dirty="0" sz="1100" spc="-50">
                <a:latin typeface="Tahoma"/>
                <a:cs typeface="Tahoma"/>
              </a:rPr>
              <a:t>ees</a:t>
            </a:r>
            <a:r>
              <a:rPr dirty="0" sz="1100" spc="35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moyennes </a:t>
            </a:r>
            <a:r>
              <a:rPr dirty="0" sz="1100" spc="-20">
                <a:latin typeface="Tahoma"/>
                <a:cs typeface="Tahoma"/>
              </a:rPr>
              <a:t>Distribution</a:t>
            </a:r>
            <a:r>
              <a:rPr dirty="0" sz="1100" spc="35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erreurs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8" name="object 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068726" y="1035405"/>
            <a:ext cx="65265" cy="65265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068726" y="1245438"/>
            <a:ext cx="65265" cy="65265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3068726" y="1455470"/>
            <a:ext cx="65265" cy="65265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3068726" y="1665503"/>
            <a:ext cx="65265" cy="65265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2913481" y="698142"/>
            <a:ext cx="1634489" cy="107569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289560" marR="5080" indent="-277495">
              <a:lnSpc>
                <a:spcPct val="125299"/>
              </a:lnSpc>
              <a:spcBef>
                <a:spcPts val="100"/>
              </a:spcBef>
            </a:pPr>
            <a:r>
              <a:rPr dirty="0" sz="1100" spc="-45" b="1">
                <a:latin typeface="Arial"/>
                <a:cs typeface="Arial"/>
              </a:rPr>
              <a:t>Insights</a:t>
            </a:r>
            <a:r>
              <a:rPr dirty="0" sz="1100" spc="45" b="1">
                <a:latin typeface="Arial"/>
                <a:cs typeface="Arial"/>
              </a:rPr>
              <a:t> </a:t>
            </a:r>
            <a:r>
              <a:rPr dirty="0" sz="1100" spc="-65" b="1">
                <a:latin typeface="Arial"/>
                <a:cs typeface="Arial"/>
              </a:rPr>
              <a:t>Op´erationnels</a:t>
            </a:r>
            <a:r>
              <a:rPr dirty="0" sz="1100" spc="45" b="1">
                <a:latin typeface="Arial"/>
                <a:cs typeface="Arial"/>
              </a:rPr>
              <a:t> </a:t>
            </a:r>
            <a:r>
              <a:rPr dirty="0" sz="1100" spc="-50" b="1">
                <a:latin typeface="Arial"/>
                <a:cs typeface="Arial"/>
              </a:rPr>
              <a:t>: </a:t>
            </a:r>
            <a:r>
              <a:rPr dirty="0" sz="1100" spc="-30">
                <a:latin typeface="Tahoma"/>
                <a:cs typeface="Tahoma"/>
              </a:rPr>
              <a:t>Steps</a:t>
            </a:r>
            <a:r>
              <a:rPr dirty="0" sz="1100" spc="-45">
                <a:latin typeface="Tahoma"/>
                <a:cs typeface="Tahoma"/>
              </a:rPr>
              <a:t> </a:t>
            </a:r>
            <a:r>
              <a:rPr dirty="0" sz="1100" spc="-660">
                <a:latin typeface="Tahoma"/>
                <a:cs typeface="Tahoma"/>
              </a:rPr>
              <a:t>`</a:t>
            </a:r>
            <a:r>
              <a:rPr dirty="0" sz="1100" spc="-60">
                <a:latin typeface="Tahoma"/>
                <a:cs typeface="Tahoma"/>
              </a:rPr>
              <a:t>a</a:t>
            </a:r>
            <a:r>
              <a:rPr dirty="0" sz="1100" spc="20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optimiser </a:t>
            </a:r>
            <a:r>
              <a:rPr dirty="0" sz="1100" spc="-20">
                <a:latin typeface="Tahoma"/>
                <a:cs typeface="Tahoma"/>
              </a:rPr>
              <a:t>Patterns</a:t>
            </a:r>
            <a:r>
              <a:rPr dirty="0" sz="1100" spc="-10">
                <a:latin typeface="Tahoma"/>
                <a:cs typeface="Tahoma"/>
              </a:rPr>
              <a:t> d’erreurs </a:t>
            </a:r>
            <a:r>
              <a:rPr dirty="0" sz="1100" spc="-25">
                <a:latin typeface="Tahoma"/>
                <a:cs typeface="Tahoma"/>
              </a:rPr>
              <a:t>Variations</a:t>
            </a:r>
            <a:r>
              <a:rPr dirty="0" sz="1100" spc="5">
                <a:latin typeface="Tahoma"/>
                <a:cs typeface="Tahoma"/>
              </a:rPr>
              <a:t> </a:t>
            </a:r>
            <a:r>
              <a:rPr dirty="0" sz="1100" spc="-60">
                <a:latin typeface="Tahoma"/>
                <a:cs typeface="Tahoma"/>
              </a:rPr>
              <a:t>performance </a:t>
            </a:r>
            <a:r>
              <a:rPr dirty="0" sz="1100" spc="-30">
                <a:latin typeface="Tahoma"/>
                <a:cs typeface="Tahoma"/>
              </a:rPr>
              <a:t>Anomalies</a:t>
            </a:r>
            <a:r>
              <a:rPr dirty="0" sz="1100" spc="-15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critiques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10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  <p:sp>
        <p:nvSpPr>
          <p:cNvPr id="13" name="object 13"/>
          <p:cNvSpPr txBox="1"/>
          <p:nvPr/>
        </p:nvSpPr>
        <p:spPr>
          <a:xfrm>
            <a:off x="842340" y="2191726"/>
            <a:ext cx="4075429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35" b="1">
                <a:latin typeface="Arial"/>
                <a:cs typeface="Arial"/>
              </a:rPr>
              <a:t>Solution</a:t>
            </a:r>
            <a:r>
              <a:rPr dirty="0" sz="1100" spc="20" b="1">
                <a:latin typeface="Arial"/>
                <a:cs typeface="Arial"/>
              </a:rPr>
              <a:t> </a:t>
            </a:r>
            <a:r>
              <a:rPr dirty="0" sz="1100" spc="-70" b="1">
                <a:latin typeface="Arial"/>
                <a:cs typeface="Arial"/>
              </a:rPr>
              <a:t>compl`ete</a:t>
            </a:r>
            <a:r>
              <a:rPr dirty="0" sz="1100" spc="25" b="1">
                <a:latin typeface="Arial"/>
                <a:cs typeface="Arial"/>
              </a:rPr>
              <a:t> </a:t>
            </a:r>
            <a:r>
              <a:rPr dirty="0" sz="1100" spc="-25" b="1">
                <a:latin typeface="Arial"/>
                <a:cs typeface="Arial"/>
              </a:rPr>
              <a:t>pour</a:t>
            </a:r>
            <a:r>
              <a:rPr dirty="0" sz="1100" spc="25" b="1">
                <a:latin typeface="Arial"/>
                <a:cs typeface="Arial"/>
              </a:rPr>
              <a:t> </a:t>
            </a:r>
            <a:r>
              <a:rPr dirty="0" sz="1100" spc="-40" b="1">
                <a:latin typeface="Arial"/>
                <a:cs typeface="Arial"/>
              </a:rPr>
              <a:t>monitoring</a:t>
            </a:r>
            <a:r>
              <a:rPr dirty="0" sz="1100" spc="25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et</a:t>
            </a:r>
            <a:r>
              <a:rPr dirty="0" sz="1100" spc="25" b="1">
                <a:latin typeface="Arial"/>
                <a:cs typeface="Arial"/>
              </a:rPr>
              <a:t> </a:t>
            </a:r>
            <a:r>
              <a:rPr dirty="0" sz="1100" spc="-50" b="1">
                <a:latin typeface="Arial"/>
                <a:cs typeface="Arial"/>
              </a:rPr>
              <a:t>analyse</a:t>
            </a:r>
            <a:r>
              <a:rPr dirty="0" sz="1100" spc="25" b="1">
                <a:latin typeface="Arial"/>
                <a:cs typeface="Arial"/>
              </a:rPr>
              <a:t> </a:t>
            </a:r>
            <a:r>
              <a:rPr dirty="0" sz="1100" spc="-65" b="1">
                <a:latin typeface="Arial"/>
                <a:cs typeface="Arial"/>
              </a:rPr>
              <a:t>des</a:t>
            </a:r>
            <a:r>
              <a:rPr dirty="0" sz="1100" spc="25" b="1">
                <a:latin typeface="Arial"/>
                <a:cs typeface="Arial"/>
              </a:rPr>
              <a:t> </a:t>
            </a:r>
            <a:r>
              <a:rPr dirty="0" sz="1100" spc="-50" b="1">
                <a:latin typeface="Arial"/>
                <a:cs typeface="Arial"/>
              </a:rPr>
              <a:t>builds</a:t>
            </a:r>
            <a:r>
              <a:rPr dirty="0" sz="1100" spc="30" b="1">
                <a:latin typeface="Arial"/>
                <a:cs typeface="Arial"/>
              </a:rPr>
              <a:t> </a:t>
            </a:r>
            <a:r>
              <a:rPr dirty="0" sz="1100" spc="-10" b="1">
                <a:latin typeface="Arial"/>
                <a:cs typeface="Arial"/>
              </a:rPr>
              <a:t>Firefox</a:t>
            </a:r>
            <a:endParaRPr sz="1100">
              <a:latin typeface="Arial"/>
              <a:cs typeface="Arial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55"/>
              <a:t>Technologies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4911" y="1056957"/>
            <a:ext cx="65265" cy="6526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4911" y="1266990"/>
            <a:ext cx="65265" cy="6526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34911" y="1477022"/>
            <a:ext cx="65265" cy="652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34911" y="1687055"/>
            <a:ext cx="65265" cy="65265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79667" y="719693"/>
            <a:ext cx="1239520" cy="1075690"/>
          </a:xfrm>
          <a:prstGeom prst="rect">
            <a:avLst/>
          </a:prstGeom>
        </p:spPr>
        <p:txBody>
          <a:bodyPr wrap="square" lIns="0" tIns="5524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dirty="0" sz="1100" spc="-10" b="1">
                <a:latin typeface="Arial"/>
                <a:cs typeface="Arial"/>
              </a:rPr>
              <a:t>Stack</a:t>
            </a:r>
            <a:r>
              <a:rPr dirty="0" sz="1100" spc="30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ELK</a:t>
            </a:r>
            <a:r>
              <a:rPr dirty="0" sz="1100" spc="25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8.11.0</a:t>
            </a:r>
            <a:r>
              <a:rPr dirty="0" sz="1100" spc="25" b="1">
                <a:latin typeface="Arial"/>
                <a:cs typeface="Arial"/>
              </a:rPr>
              <a:t> </a:t>
            </a:r>
            <a:r>
              <a:rPr dirty="0" sz="1100" spc="-50" b="1">
                <a:latin typeface="Arial"/>
                <a:cs typeface="Arial"/>
              </a:rPr>
              <a:t>:</a:t>
            </a:r>
            <a:endParaRPr sz="1100">
              <a:latin typeface="Arial"/>
              <a:cs typeface="Arial"/>
            </a:endParaRPr>
          </a:p>
          <a:p>
            <a:pPr marL="289560" marR="203200">
              <a:lnSpc>
                <a:spcPct val="125299"/>
              </a:lnSpc>
            </a:pPr>
            <a:r>
              <a:rPr dirty="0" sz="1100" spc="-40">
                <a:latin typeface="Tahoma"/>
                <a:cs typeface="Tahoma"/>
              </a:rPr>
              <a:t>Elasticsearch </a:t>
            </a:r>
            <a:r>
              <a:rPr dirty="0" sz="1100" spc="-10">
                <a:latin typeface="Tahoma"/>
                <a:cs typeface="Tahoma"/>
              </a:rPr>
              <a:t>Logstash Kibana Filebeat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8" name="object 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068726" y="1056957"/>
            <a:ext cx="65265" cy="65265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068726" y="1266990"/>
            <a:ext cx="65265" cy="65265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3068726" y="1477022"/>
            <a:ext cx="65265" cy="65265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3068726" y="1687055"/>
            <a:ext cx="65265" cy="65265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2913481" y="719693"/>
            <a:ext cx="1425575" cy="1075690"/>
          </a:xfrm>
          <a:prstGeom prst="rect">
            <a:avLst/>
          </a:prstGeom>
        </p:spPr>
        <p:txBody>
          <a:bodyPr wrap="square" lIns="0" tIns="5524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dirty="0" sz="1100" spc="-25" b="1">
                <a:latin typeface="Arial"/>
                <a:cs typeface="Arial"/>
              </a:rPr>
              <a:t>Infrastructure</a:t>
            </a:r>
            <a:r>
              <a:rPr dirty="0" sz="1100" spc="80" b="1">
                <a:latin typeface="Arial"/>
                <a:cs typeface="Arial"/>
              </a:rPr>
              <a:t> </a:t>
            </a:r>
            <a:r>
              <a:rPr dirty="0" sz="1100" spc="-50" b="1">
                <a:latin typeface="Arial"/>
                <a:cs typeface="Arial"/>
              </a:rPr>
              <a:t>:</a:t>
            </a:r>
            <a:endParaRPr sz="1100">
              <a:latin typeface="Arial"/>
              <a:cs typeface="Arial"/>
            </a:endParaRPr>
          </a:p>
          <a:p>
            <a:pPr marL="289560">
              <a:lnSpc>
                <a:spcPct val="100000"/>
              </a:lnSpc>
              <a:spcBef>
                <a:spcPts val="334"/>
              </a:spcBef>
            </a:pPr>
            <a:r>
              <a:rPr dirty="0" sz="1100" spc="-10">
                <a:latin typeface="Tahoma"/>
                <a:cs typeface="Tahoma"/>
              </a:rPr>
              <a:t>Docker</a:t>
            </a:r>
            <a:endParaRPr sz="1100">
              <a:latin typeface="Tahoma"/>
              <a:cs typeface="Tahoma"/>
            </a:endParaRPr>
          </a:p>
          <a:p>
            <a:pPr marL="289560" marR="5080">
              <a:lnSpc>
                <a:spcPct val="125299"/>
              </a:lnSpc>
            </a:pPr>
            <a:r>
              <a:rPr dirty="0" sz="1100" spc="-25">
                <a:latin typeface="Tahoma"/>
                <a:cs typeface="Tahoma"/>
              </a:rPr>
              <a:t>Docker</a:t>
            </a:r>
            <a:r>
              <a:rPr dirty="0" sz="1100" spc="-40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Compose Machine</a:t>
            </a:r>
            <a:r>
              <a:rPr dirty="0" sz="1100" spc="-70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Learning </a:t>
            </a:r>
            <a:r>
              <a:rPr dirty="0" sz="1100">
                <a:latin typeface="Tahoma"/>
                <a:cs typeface="Tahoma"/>
              </a:rPr>
              <a:t>Allocation</a:t>
            </a:r>
            <a:r>
              <a:rPr dirty="0" sz="1100" spc="-75">
                <a:latin typeface="Tahoma"/>
                <a:cs typeface="Tahoma"/>
              </a:rPr>
              <a:t> </a:t>
            </a:r>
            <a:r>
              <a:rPr dirty="0" sz="1100">
                <a:latin typeface="Tahoma"/>
                <a:cs typeface="Tahoma"/>
              </a:rPr>
              <a:t>:</a:t>
            </a:r>
            <a:r>
              <a:rPr dirty="0" sz="1100" spc="-70">
                <a:latin typeface="Tahoma"/>
                <a:cs typeface="Tahoma"/>
              </a:rPr>
              <a:t> </a:t>
            </a:r>
            <a:r>
              <a:rPr dirty="0" sz="1100" spc="-25">
                <a:latin typeface="Tahoma"/>
                <a:cs typeface="Tahoma"/>
              </a:rPr>
              <a:t>2.6</a:t>
            </a:r>
            <a:r>
              <a:rPr dirty="0" sz="1100" spc="-65">
                <a:latin typeface="Tahoma"/>
                <a:cs typeface="Tahoma"/>
              </a:rPr>
              <a:t> </a:t>
            </a:r>
            <a:r>
              <a:rPr dirty="0" sz="1100" spc="-25">
                <a:latin typeface="Tahoma"/>
                <a:cs typeface="Tahoma"/>
              </a:rPr>
              <a:t>GB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10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  <p:sp>
        <p:nvSpPr>
          <p:cNvPr id="13" name="object 13"/>
          <p:cNvSpPr txBox="1"/>
          <p:nvPr/>
        </p:nvSpPr>
        <p:spPr>
          <a:xfrm>
            <a:off x="1345895" y="2186341"/>
            <a:ext cx="3068955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b="1">
                <a:latin typeface="Arial"/>
                <a:cs typeface="Arial"/>
              </a:rPr>
              <a:t>3</a:t>
            </a:r>
            <a:r>
              <a:rPr dirty="0" sz="1100" spc="50" b="1">
                <a:latin typeface="Arial"/>
                <a:cs typeface="Arial"/>
              </a:rPr>
              <a:t> </a:t>
            </a:r>
            <a:r>
              <a:rPr dirty="0" sz="1100" spc="-55" b="1">
                <a:latin typeface="Arial"/>
                <a:cs typeface="Arial"/>
              </a:rPr>
              <a:t>Dashboards</a:t>
            </a:r>
            <a:r>
              <a:rPr dirty="0" sz="1100" spc="50" b="1">
                <a:latin typeface="Arial"/>
                <a:cs typeface="Arial"/>
              </a:rPr>
              <a:t> </a:t>
            </a:r>
            <a:r>
              <a:rPr dirty="0" sz="1100" spc="95" b="1">
                <a:latin typeface="Arial"/>
                <a:cs typeface="Arial"/>
              </a:rPr>
              <a:t>—</a:t>
            </a:r>
            <a:r>
              <a:rPr dirty="0" sz="1100" spc="55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16</a:t>
            </a:r>
            <a:r>
              <a:rPr dirty="0" sz="1100" spc="50" b="1">
                <a:latin typeface="Arial"/>
                <a:cs typeface="Arial"/>
              </a:rPr>
              <a:t> </a:t>
            </a:r>
            <a:r>
              <a:rPr dirty="0" sz="1100" spc="-50" b="1">
                <a:latin typeface="Arial"/>
                <a:cs typeface="Arial"/>
              </a:rPr>
              <a:t>Visualisations</a:t>
            </a:r>
            <a:r>
              <a:rPr dirty="0" sz="1100" spc="55" b="1">
                <a:latin typeface="Arial"/>
                <a:cs typeface="Arial"/>
              </a:rPr>
              <a:t> </a:t>
            </a:r>
            <a:r>
              <a:rPr dirty="0" sz="1100" spc="95" b="1">
                <a:latin typeface="Arial"/>
                <a:cs typeface="Arial"/>
              </a:rPr>
              <a:t>—</a:t>
            </a:r>
            <a:r>
              <a:rPr dirty="0" sz="1100" spc="50" b="1">
                <a:latin typeface="Arial"/>
                <a:cs typeface="Arial"/>
              </a:rPr>
              <a:t> </a:t>
            </a:r>
            <a:r>
              <a:rPr dirty="0" sz="1100" b="1">
                <a:latin typeface="Arial"/>
                <a:cs typeface="Arial"/>
              </a:rPr>
              <a:t>1</a:t>
            </a:r>
            <a:r>
              <a:rPr dirty="0" sz="1100" spc="55" b="1">
                <a:latin typeface="Arial"/>
                <a:cs typeface="Arial"/>
              </a:rPr>
              <a:t> </a:t>
            </a:r>
            <a:r>
              <a:rPr dirty="0" sz="1100" spc="-30" b="1">
                <a:latin typeface="Arial"/>
                <a:cs typeface="Arial"/>
              </a:rPr>
              <a:t>Job</a:t>
            </a:r>
            <a:r>
              <a:rPr dirty="0" sz="1100" spc="50" b="1">
                <a:latin typeface="Arial"/>
                <a:cs typeface="Arial"/>
              </a:rPr>
              <a:t> </a:t>
            </a:r>
            <a:r>
              <a:rPr dirty="0" sz="1100" spc="-25" b="1">
                <a:latin typeface="Arial"/>
                <a:cs typeface="Arial"/>
              </a:rPr>
              <a:t>ML</a:t>
            </a:r>
            <a:endParaRPr sz="1100">
              <a:latin typeface="Arial"/>
              <a:cs typeface="Arial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35"/>
              <a:t>Conclusion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768413"/>
            <a:ext cx="65265" cy="6526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978446"/>
            <a:ext cx="65265" cy="6526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188478"/>
            <a:ext cx="65265" cy="652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81089" y="1398511"/>
            <a:ext cx="65265" cy="6526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1089" y="1608543"/>
            <a:ext cx="65265" cy="65265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281089" y="2208606"/>
            <a:ext cx="65265" cy="65265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281089" y="2418638"/>
            <a:ext cx="65265" cy="65265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281089" y="2628671"/>
            <a:ext cx="65265" cy="65265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281089" y="2838703"/>
            <a:ext cx="65265" cy="65265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125844" y="431149"/>
            <a:ext cx="2959100" cy="2515870"/>
          </a:xfrm>
          <a:prstGeom prst="rect">
            <a:avLst/>
          </a:prstGeom>
        </p:spPr>
        <p:txBody>
          <a:bodyPr wrap="square" lIns="0" tIns="5524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dirty="0" sz="1100" spc="-75" b="1">
                <a:latin typeface="Arial"/>
                <a:cs typeface="Arial"/>
              </a:rPr>
              <a:t>R´ealisations</a:t>
            </a:r>
            <a:r>
              <a:rPr dirty="0" sz="1100" spc="70" b="1">
                <a:latin typeface="Arial"/>
                <a:cs typeface="Arial"/>
              </a:rPr>
              <a:t> </a:t>
            </a:r>
            <a:r>
              <a:rPr dirty="0" sz="1100" spc="-50" b="1">
                <a:latin typeface="Arial"/>
                <a:cs typeface="Arial"/>
              </a:rPr>
              <a:t>:</a:t>
            </a:r>
            <a:endParaRPr sz="1100">
              <a:latin typeface="Arial"/>
              <a:cs typeface="Arial"/>
            </a:endParaRPr>
          </a:p>
          <a:p>
            <a:pPr marL="289560" marR="692150">
              <a:lnSpc>
                <a:spcPct val="125299"/>
              </a:lnSpc>
            </a:pPr>
            <a:r>
              <a:rPr dirty="0" sz="1100" spc="-10">
                <a:latin typeface="Tahoma"/>
                <a:cs typeface="Tahoma"/>
              </a:rPr>
              <a:t>Pipeline</a:t>
            </a:r>
            <a:r>
              <a:rPr dirty="0" sz="1100" spc="-45">
                <a:latin typeface="Tahoma"/>
                <a:cs typeface="Tahoma"/>
              </a:rPr>
              <a:t> </a:t>
            </a:r>
            <a:r>
              <a:rPr dirty="0" sz="1100" spc="-30">
                <a:latin typeface="Tahoma"/>
                <a:cs typeface="Tahoma"/>
              </a:rPr>
              <a:t>d’ingestion</a:t>
            </a:r>
            <a:r>
              <a:rPr dirty="0" sz="1100" spc="-40">
                <a:latin typeface="Tahoma"/>
                <a:cs typeface="Tahoma"/>
              </a:rPr>
              <a:t> </a:t>
            </a:r>
            <a:r>
              <a:rPr dirty="0" sz="1100" spc="45">
                <a:latin typeface="Tahoma"/>
                <a:cs typeface="Tahoma"/>
              </a:rPr>
              <a:t>automati</a:t>
            </a:r>
            <a:r>
              <a:rPr dirty="0" sz="1100" spc="10">
                <a:latin typeface="Tahoma"/>
                <a:cs typeface="Tahoma"/>
              </a:rPr>
              <a:t>s</a:t>
            </a:r>
            <a:r>
              <a:rPr dirty="0" sz="1100" spc="-535">
                <a:latin typeface="Tahoma"/>
                <a:cs typeface="Tahoma"/>
              </a:rPr>
              <a:t>´</a:t>
            </a:r>
            <a:r>
              <a:rPr dirty="0" sz="1100" spc="45">
                <a:latin typeface="Tahoma"/>
                <a:cs typeface="Tahoma"/>
              </a:rPr>
              <a:t>e</a:t>
            </a:r>
            <a:r>
              <a:rPr dirty="0" sz="1100" spc="-15">
                <a:latin typeface="Tahoma"/>
                <a:cs typeface="Tahoma"/>
              </a:rPr>
              <a:t> </a:t>
            </a:r>
            <a:r>
              <a:rPr dirty="0" sz="1100" spc="-25">
                <a:latin typeface="Tahoma"/>
                <a:cs typeface="Tahoma"/>
              </a:rPr>
              <a:t>Parsing</a:t>
            </a:r>
            <a:r>
              <a:rPr dirty="0" sz="1100" spc="-35">
                <a:latin typeface="Tahoma"/>
                <a:cs typeface="Tahoma"/>
              </a:rPr>
              <a:t> </a:t>
            </a:r>
            <a:r>
              <a:rPr dirty="0" sz="1100">
                <a:latin typeface="Tahoma"/>
                <a:cs typeface="Tahoma"/>
              </a:rPr>
              <a:t>et</a:t>
            </a:r>
            <a:r>
              <a:rPr dirty="0" sz="1100" spc="-35">
                <a:latin typeface="Tahoma"/>
                <a:cs typeface="Tahoma"/>
              </a:rPr>
              <a:t> </a:t>
            </a:r>
            <a:r>
              <a:rPr dirty="0" sz="1100" spc="-45">
                <a:latin typeface="Tahoma"/>
                <a:cs typeface="Tahoma"/>
              </a:rPr>
              <a:t>enrichissement</a:t>
            </a:r>
            <a:r>
              <a:rPr dirty="0" sz="1100" spc="-30">
                <a:latin typeface="Tahoma"/>
                <a:cs typeface="Tahoma"/>
              </a:rPr>
              <a:t> </a:t>
            </a:r>
            <a:r>
              <a:rPr dirty="0" sz="1100" spc="-60">
                <a:latin typeface="Tahoma"/>
                <a:cs typeface="Tahoma"/>
              </a:rPr>
              <a:t>des</a:t>
            </a:r>
            <a:r>
              <a:rPr dirty="0" sz="1100" spc="-25">
                <a:latin typeface="Tahoma"/>
                <a:cs typeface="Tahoma"/>
              </a:rPr>
              <a:t> </a:t>
            </a:r>
            <a:r>
              <a:rPr dirty="0" sz="1100" spc="-50">
                <a:latin typeface="Tahoma"/>
                <a:cs typeface="Tahoma"/>
              </a:rPr>
              <a:t>logs</a:t>
            </a:r>
            <a:endParaRPr sz="1100">
              <a:latin typeface="Tahoma"/>
              <a:cs typeface="Tahoma"/>
            </a:endParaRPr>
          </a:p>
          <a:p>
            <a:pPr marL="289560">
              <a:lnSpc>
                <a:spcPct val="100000"/>
              </a:lnSpc>
              <a:spcBef>
                <a:spcPts val="334"/>
              </a:spcBef>
            </a:pPr>
            <a:r>
              <a:rPr dirty="0" sz="1100" spc="-45">
                <a:latin typeface="Tahoma"/>
                <a:cs typeface="Tahoma"/>
              </a:rPr>
              <a:t>Indexation</a:t>
            </a:r>
            <a:r>
              <a:rPr dirty="0" sz="1100" spc="15">
                <a:latin typeface="Tahoma"/>
                <a:cs typeface="Tahoma"/>
              </a:rPr>
              <a:t> </a:t>
            </a:r>
            <a:r>
              <a:rPr dirty="0" sz="1100" spc="-45">
                <a:latin typeface="Tahoma"/>
                <a:cs typeface="Tahoma"/>
              </a:rPr>
              <a:t>optimi</a:t>
            </a:r>
            <a:r>
              <a:rPr dirty="0" sz="1100" spc="-80">
                <a:latin typeface="Tahoma"/>
                <a:cs typeface="Tahoma"/>
              </a:rPr>
              <a:t>s</a:t>
            </a:r>
            <a:r>
              <a:rPr dirty="0" sz="1100" spc="-625">
                <a:latin typeface="Tahoma"/>
                <a:cs typeface="Tahoma"/>
              </a:rPr>
              <a:t>´</a:t>
            </a:r>
            <a:r>
              <a:rPr dirty="0" sz="1100" spc="-45">
                <a:latin typeface="Tahoma"/>
                <a:cs typeface="Tahoma"/>
              </a:rPr>
              <a:t>ee</a:t>
            </a:r>
            <a:r>
              <a:rPr dirty="0" sz="1100" spc="20">
                <a:latin typeface="Tahoma"/>
                <a:cs typeface="Tahoma"/>
              </a:rPr>
              <a:t> </a:t>
            </a:r>
            <a:r>
              <a:rPr dirty="0" sz="1100" spc="-50">
                <a:latin typeface="Tahoma"/>
                <a:cs typeface="Tahoma"/>
              </a:rPr>
              <a:t>dans</a:t>
            </a:r>
            <a:r>
              <a:rPr dirty="0" sz="1100" spc="10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Elasticsearch</a:t>
            </a:r>
            <a:endParaRPr sz="1100">
              <a:latin typeface="Tahoma"/>
              <a:cs typeface="Tahoma"/>
            </a:endParaRPr>
          </a:p>
          <a:p>
            <a:pPr marL="289560" marR="5080">
              <a:lnSpc>
                <a:spcPct val="125299"/>
              </a:lnSpc>
            </a:pPr>
            <a:r>
              <a:rPr dirty="0" sz="1100">
                <a:latin typeface="Tahoma"/>
                <a:cs typeface="Tahoma"/>
              </a:rPr>
              <a:t>3</a:t>
            </a:r>
            <a:r>
              <a:rPr dirty="0" sz="1100" spc="-30">
                <a:latin typeface="Tahoma"/>
                <a:cs typeface="Tahoma"/>
              </a:rPr>
              <a:t> </a:t>
            </a:r>
            <a:r>
              <a:rPr dirty="0" sz="1100" spc="-55">
                <a:latin typeface="Tahoma"/>
                <a:cs typeface="Tahoma"/>
              </a:rPr>
              <a:t>dashboards</a:t>
            </a:r>
            <a:r>
              <a:rPr dirty="0" sz="1100" spc="-20">
                <a:latin typeface="Tahoma"/>
                <a:cs typeface="Tahoma"/>
              </a:rPr>
              <a:t> </a:t>
            </a:r>
            <a:r>
              <a:rPr dirty="0" sz="1100" spc="-25">
                <a:latin typeface="Tahoma"/>
                <a:cs typeface="Tahoma"/>
              </a:rPr>
              <a:t>interactifs </a:t>
            </a:r>
            <a:r>
              <a:rPr dirty="0" sz="1100" spc="-45">
                <a:latin typeface="Tahoma"/>
                <a:cs typeface="Tahoma"/>
              </a:rPr>
              <a:t>avec</a:t>
            </a:r>
            <a:r>
              <a:rPr dirty="0" sz="1100" spc="-20">
                <a:latin typeface="Tahoma"/>
                <a:cs typeface="Tahoma"/>
              </a:rPr>
              <a:t> 16 </a:t>
            </a:r>
            <a:r>
              <a:rPr dirty="0" sz="1100" spc="-35">
                <a:latin typeface="Tahoma"/>
                <a:cs typeface="Tahoma"/>
              </a:rPr>
              <a:t>visualisations </a:t>
            </a:r>
            <a:r>
              <a:rPr dirty="0" sz="1100" spc="-65">
                <a:latin typeface="Tahoma"/>
                <a:cs typeface="Tahoma"/>
              </a:rPr>
              <a:t>D</a:t>
            </a:r>
            <a:r>
              <a:rPr dirty="0" sz="1100" spc="-605">
                <a:latin typeface="Tahoma"/>
                <a:cs typeface="Tahoma"/>
              </a:rPr>
              <a:t>´</a:t>
            </a:r>
            <a:r>
              <a:rPr dirty="0" sz="1100" spc="-30">
                <a:latin typeface="Tahoma"/>
                <a:cs typeface="Tahoma"/>
              </a:rPr>
              <a:t>etection</a:t>
            </a:r>
            <a:r>
              <a:rPr dirty="0" sz="1100">
                <a:latin typeface="Tahoma"/>
                <a:cs typeface="Tahoma"/>
              </a:rPr>
              <a:t> </a:t>
            </a:r>
            <a:r>
              <a:rPr dirty="0" sz="1100" spc="-35">
                <a:latin typeface="Tahoma"/>
                <a:cs typeface="Tahoma"/>
              </a:rPr>
              <a:t>d’anomalies</a:t>
            </a:r>
            <a:r>
              <a:rPr dirty="0" sz="1100" spc="-10">
                <a:latin typeface="Tahoma"/>
                <a:cs typeface="Tahoma"/>
              </a:rPr>
              <a:t> </a:t>
            </a:r>
            <a:r>
              <a:rPr dirty="0" sz="1100" spc="-45">
                <a:latin typeface="Tahoma"/>
                <a:cs typeface="Tahoma"/>
              </a:rPr>
              <a:t>avec</a:t>
            </a:r>
            <a:r>
              <a:rPr dirty="0" sz="1100" spc="-5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Machine</a:t>
            </a:r>
            <a:r>
              <a:rPr dirty="0" sz="1100" spc="-5">
                <a:latin typeface="Tahoma"/>
                <a:cs typeface="Tahoma"/>
              </a:rPr>
              <a:t> </a:t>
            </a:r>
            <a:r>
              <a:rPr dirty="0" sz="1100" spc="-40">
                <a:latin typeface="Tahoma"/>
                <a:cs typeface="Tahoma"/>
              </a:rPr>
              <a:t>Learning</a:t>
            </a:r>
            <a:endParaRPr sz="11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dirty="0" sz="1100" spc="-50" b="1">
                <a:latin typeface="Arial"/>
                <a:cs typeface="Arial"/>
              </a:rPr>
              <a:t>Perspectives</a:t>
            </a:r>
            <a:r>
              <a:rPr dirty="0" sz="1100" spc="35" b="1">
                <a:latin typeface="Arial"/>
                <a:cs typeface="Arial"/>
              </a:rPr>
              <a:t> </a:t>
            </a:r>
            <a:r>
              <a:rPr dirty="0" sz="1100" spc="-50" b="1">
                <a:latin typeface="Arial"/>
                <a:cs typeface="Arial"/>
              </a:rPr>
              <a:t>:</a:t>
            </a:r>
            <a:endParaRPr sz="1100">
              <a:latin typeface="Arial"/>
              <a:cs typeface="Arial"/>
            </a:endParaRPr>
          </a:p>
          <a:p>
            <a:pPr marL="289560" marR="570865">
              <a:lnSpc>
                <a:spcPct val="125299"/>
              </a:lnSpc>
            </a:pPr>
            <a:r>
              <a:rPr dirty="0" sz="1100" spc="-35">
                <a:latin typeface="Tahoma"/>
                <a:cs typeface="Tahoma"/>
              </a:rPr>
              <a:t>Extension</a:t>
            </a:r>
            <a:r>
              <a:rPr dirty="0" sz="1100" spc="-30">
                <a:latin typeface="Tahoma"/>
                <a:cs typeface="Tahoma"/>
              </a:rPr>
              <a:t> </a:t>
            </a:r>
            <a:r>
              <a:rPr dirty="0" sz="1100" spc="-660">
                <a:latin typeface="Tahoma"/>
                <a:cs typeface="Tahoma"/>
              </a:rPr>
              <a:t>`</a:t>
            </a:r>
            <a:r>
              <a:rPr dirty="0" sz="1100" spc="-60">
                <a:latin typeface="Tahoma"/>
                <a:cs typeface="Tahoma"/>
              </a:rPr>
              <a:t>a</a:t>
            </a:r>
            <a:r>
              <a:rPr dirty="0" sz="1100" spc="20">
                <a:latin typeface="Tahoma"/>
                <a:cs typeface="Tahoma"/>
              </a:rPr>
              <a:t> </a:t>
            </a:r>
            <a:r>
              <a:rPr dirty="0" sz="1100" spc="-30">
                <a:latin typeface="Tahoma"/>
                <a:cs typeface="Tahoma"/>
              </a:rPr>
              <a:t>d’autres</a:t>
            </a:r>
            <a:r>
              <a:rPr dirty="0" sz="1100">
                <a:latin typeface="Tahoma"/>
                <a:cs typeface="Tahoma"/>
              </a:rPr>
              <a:t> </a:t>
            </a:r>
            <a:r>
              <a:rPr dirty="0" sz="1100" spc="-60">
                <a:latin typeface="Tahoma"/>
                <a:cs typeface="Tahoma"/>
              </a:rPr>
              <a:t>sources</a:t>
            </a:r>
            <a:r>
              <a:rPr dirty="0" sz="1100" spc="-5">
                <a:latin typeface="Tahoma"/>
                <a:cs typeface="Tahoma"/>
              </a:rPr>
              <a:t> </a:t>
            </a:r>
            <a:r>
              <a:rPr dirty="0" sz="1100" spc="-35">
                <a:latin typeface="Tahoma"/>
                <a:cs typeface="Tahoma"/>
              </a:rPr>
              <a:t>de</a:t>
            </a:r>
            <a:r>
              <a:rPr dirty="0" sz="1100">
                <a:latin typeface="Tahoma"/>
                <a:cs typeface="Tahoma"/>
              </a:rPr>
              <a:t> </a:t>
            </a:r>
            <a:r>
              <a:rPr dirty="0" sz="1100" spc="-40">
                <a:latin typeface="Tahoma"/>
                <a:cs typeface="Tahoma"/>
              </a:rPr>
              <a:t>logs </a:t>
            </a:r>
            <a:r>
              <a:rPr dirty="0" sz="1100" spc="-20">
                <a:latin typeface="Tahoma"/>
                <a:cs typeface="Tahoma"/>
              </a:rPr>
              <a:t>Alertes</a:t>
            </a:r>
            <a:r>
              <a:rPr dirty="0" sz="1100" spc="-35">
                <a:latin typeface="Tahoma"/>
                <a:cs typeface="Tahoma"/>
              </a:rPr>
              <a:t> automatiques</a:t>
            </a:r>
            <a:r>
              <a:rPr dirty="0" sz="1100" spc="-30">
                <a:latin typeface="Tahoma"/>
                <a:cs typeface="Tahoma"/>
              </a:rPr>
              <a:t> </a:t>
            </a:r>
            <a:r>
              <a:rPr dirty="0" sz="1100" spc="55">
                <a:latin typeface="Tahoma"/>
                <a:cs typeface="Tahoma"/>
              </a:rPr>
              <a:t>avan</a:t>
            </a:r>
            <a:r>
              <a:rPr dirty="0" sz="1100" spc="15">
                <a:latin typeface="Tahoma"/>
                <a:cs typeface="Tahoma"/>
              </a:rPr>
              <a:t>c</a:t>
            </a:r>
            <a:r>
              <a:rPr dirty="0" sz="1100" spc="-520">
                <a:latin typeface="Tahoma"/>
                <a:cs typeface="Tahoma"/>
              </a:rPr>
              <a:t>´</a:t>
            </a:r>
            <a:r>
              <a:rPr dirty="0" sz="1100" spc="55">
                <a:latin typeface="Tahoma"/>
                <a:cs typeface="Tahoma"/>
              </a:rPr>
              <a:t>ees</a:t>
            </a:r>
            <a:r>
              <a:rPr dirty="0" sz="1100" spc="-15">
                <a:latin typeface="Tahoma"/>
                <a:cs typeface="Tahoma"/>
              </a:rPr>
              <a:t> </a:t>
            </a:r>
            <a:r>
              <a:rPr dirty="0" sz="1100" spc="-35">
                <a:latin typeface="Tahoma"/>
                <a:cs typeface="Tahoma"/>
              </a:rPr>
              <a:t>Analyses</a:t>
            </a:r>
            <a:r>
              <a:rPr dirty="0" sz="1100" spc="-45">
                <a:latin typeface="Tahoma"/>
                <a:cs typeface="Tahoma"/>
              </a:rPr>
              <a:t> </a:t>
            </a:r>
            <a:r>
              <a:rPr dirty="0" sz="1100" spc="5">
                <a:latin typeface="Tahoma"/>
                <a:cs typeface="Tahoma"/>
              </a:rPr>
              <a:t>pr</a:t>
            </a:r>
            <a:r>
              <a:rPr dirty="0" sz="1100" spc="-535">
                <a:latin typeface="Tahoma"/>
                <a:cs typeface="Tahoma"/>
              </a:rPr>
              <a:t>´</a:t>
            </a:r>
            <a:r>
              <a:rPr dirty="0" sz="1100" spc="40">
                <a:latin typeface="Tahoma"/>
                <a:cs typeface="Tahoma"/>
              </a:rPr>
              <a:t>edictives</a:t>
            </a:r>
            <a:endParaRPr sz="1100">
              <a:latin typeface="Tahoma"/>
              <a:cs typeface="Tahoma"/>
            </a:endParaRPr>
          </a:p>
          <a:p>
            <a:pPr marL="289560">
              <a:lnSpc>
                <a:spcPct val="100000"/>
              </a:lnSpc>
              <a:spcBef>
                <a:spcPts val="335"/>
              </a:spcBef>
            </a:pPr>
            <a:r>
              <a:rPr dirty="0" sz="1100" spc="-45">
                <a:latin typeface="Tahoma"/>
                <a:cs typeface="Tahoma"/>
              </a:rPr>
              <a:t>In</a:t>
            </a:r>
            <a:r>
              <a:rPr dirty="0" sz="1100" spc="-85">
                <a:latin typeface="Tahoma"/>
                <a:cs typeface="Tahoma"/>
              </a:rPr>
              <a:t>t</a:t>
            </a:r>
            <a:r>
              <a:rPr dirty="0" sz="1100" spc="-620">
                <a:latin typeface="Tahoma"/>
                <a:cs typeface="Tahoma"/>
              </a:rPr>
              <a:t>´</a:t>
            </a:r>
            <a:r>
              <a:rPr dirty="0" sz="1100" spc="-45">
                <a:latin typeface="Tahoma"/>
                <a:cs typeface="Tahoma"/>
              </a:rPr>
              <a:t>egration</a:t>
            </a:r>
            <a:r>
              <a:rPr dirty="0" sz="1100" spc="75">
                <a:latin typeface="Tahoma"/>
                <a:cs typeface="Tahoma"/>
              </a:rPr>
              <a:t> </a:t>
            </a:r>
            <a:r>
              <a:rPr dirty="0" sz="1100" spc="-20">
                <a:latin typeface="Tahoma"/>
                <a:cs typeface="Tahoma"/>
              </a:rPr>
              <a:t>CI/CD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10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10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2450" b="1">
                <a:solidFill>
                  <a:srgbClr val="000000"/>
                </a:solidFill>
                <a:latin typeface="Arial"/>
                <a:cs typeface="Arial"/>
              </a:rPr>
              <a:t>Merci</a:t>
            </a:r>
            <a:r>
              <a:rPr dirty="0" sz="2450" spc="65" b="1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dirty="0" sz="2450" spc="-10" b="1">
                <a:solidFill>
                  <a:srgbClr val="000000"/>
                </a:solidFill>
                <a:latin typeface="Arial"/>
                <a:cs typeface="Arial"/>
              </a:rPr>
              <a:t>pour</a:t>
            </a:r>
            <a:r>
              <a:rPr dirty="0" sz="2450" spc="70" b="1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dirty="0" sz="2450" b="1">
                <a:solidFill>
                  <a:srgbClr val="000000"/>
                </a:solidFill>
                <a:latin typeface="Arial"/>
                <a:cs typeface="Arial"/>
              </a:rPr>
              <a:t>votre</a:t>
            </a:r>
            <a:r>
              <a:rPr dirty="0" sz="2450" spc="75" b="1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dirty="0" sz="2450" spc="-10" b="1">
                <a:solidFill>
                  <a:srgbClr val="000000"/>
                </a:solidFill>
                <a:latin typeface="Arial"/>
                <a:cs typeface="Arial"/>
              </a:rPr>
              <a:t>attention</a:t>
            </a:r>
            <a:endParaRPr sz="245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447175" y="1848406"/>
            <a:ext cx="86550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50">
                <a:latin typeface="Tahoma"/>
                <a:cs typeface="Tahoma"/>
              </a:rPr>
              <a:t>Questions</a:t>
            </a:r>
            <a:r>
              <a:rPr dirty="0" sz="1400" spc="-120">
                <a:latin typeface="Tahoma"/>
                <a:cs typeface="Tahoma"/>
              </a:rPr>
              <a:t> </a:t>
            </a:r>
            <a:r>
              <a:rPr dirty="0" sz="1400" spc="-50">
                <a:latin typeface="Tahoma"/>
                <a:cs typeface="Tahoma"/>
              </a:rPr>
              <a:t>?</a:t>
            </a:r>
            <a:endParaRPr sz="1400">
              <a:latin typeface="Tahoma"/>
              <a:cs typeface="Tahoma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45"/>
              <a:t>Annexe</a:t>
            </a:r>
            <a:r>
              <a:rPr dirty="0" spc="-55"/>
              <a:t> </a:t>
            </a:r>
            <a:r>
              <a:rPr dirty="0"/>
              <a:t>:</a:t>
            </a:r>
            <a:r>
              <a:rPr dirty="0" spc="-50"/>
              <a:t> </a:t>
            </a:r>
            <a:r>
              <a:rPr dirty="0" spc="-30"/>
              <a:t>Configuration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694143"/>
            <a:ext cx="65265" cy="6526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898270"/>
            <a:ext cx="65265" cy="6526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102398"/>
            <a:ext cx="65265" cy="652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81089" y="1620608"/>
            <a:ext cx="65265" cy="6526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1089" y="1824735"/>
            <a:ext cx="65265" cy="65265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281089" y="2028862"/>
            <a:ext cx="65265" cy="65265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281089" y="2547086"/>
            <a:ext cx="65265" cy="65265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281089" y="2751213"/>
            <a:ext cx="65265" cy="65265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281089" y="2955340"/>
            <a:ext cx="65265" cy="65265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125844" y="366735"/>
            <a:ext cx="2151380" cy="2696845"/>
          </a:xfrm>
          <a:prstGeom prst="rect">
            <a:avLst/>
          </a:prstGeom>
        </p:spPr>
        <p:txBody>
          <a:bodyPr wrap="square" lIns="0" tIns="501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395"/>
              </a:spcBef>
            </a:pPr>
            <a:r>
              <a:rPr dirty="0" sz="1100" spc="-10" b="1">
                <a:latin typeface="Arial"/>
                <a:cs typeface="Arial"/>
              </a:rPr>
              <a:t>Filebeat</a:t>
            </a:r>
            <a:r>
              <a:rPr dirty="0" sz="1100" spc="-15" b="1">
                <a:latin typeface="Arial"/>
                <a:cs typeface="Arial"/>
              </a:rPr>
              <a:t> </a:t>
            </a:r>
            <a:r>
              <a:rPr dirty="0" sz="1100" spc="-50" b="1">
                <a:latin typeface="Arial"/>
                <a:cs typeface="Arial"/>
              </a:rPr>
              <a:t>:</a:t>
            </a:r>
            <a:endParaRPr sz="1100">
              <a:latin typeface="Arial"/>
              <a:cs typeface="Arial"/>
            </a:endParaRPr>
          </a:p>
          <a:p>
            <a:pPr marL="289560">
              <a:lnSpc>
                <a:spcPct val="100000"/>
              </a:lnSpc>
              <a:spcBef>
                <a:spcPts val="295"/>
              </a:spcBef>
            </a:pPr>
            <a:r>
              <a:rPr dirty="0" sz="1100" spc="-35">
                <a:latin typeface="Tahoma"/>
                <a:cs typeface="Tahoma"/>
              </a:rPr>
              <a:t>Surveillance</a:t>
            </a:r>
            <a:r>
              <a:rPr dirty="0" sz="1100" spc="-40">
                <a:latin typeface="Tahoma"/>
                <a:cs typeface="Tahoma"/>
              </a:rPr>
              <a:t> </a:t>
            </a:r>
            <a:r>
              <a:rPr dirty="0" sz="1100">
                <a:latin typeface="Tahoma"/>
                <a:cs typeface="Tahoma"/>
              </a:rPr>
              <a:t>:</a:t>
            </a:r>
            <a:r>
              <a:rPr dirty="0" sz="1100" spc="-40">
                <a:latin typeface="Tahoma"/>
                <a:cs typeface="Tahoma"/>
              </a:rPr>
              <a:t> </a:t>
            </a:r>
            <a:r>
              <a:rPr dirty="0" sz="1100" spc="80">
                <a:latin typeface="Georgia"/>
                <a:cs typeface="Georgia"/>
              </a:rPr>
              <a:t>logs/log-</a:t>
            </a:r>
            <a:r>
              <a:rPr dirty="0" sz="1100" spc="60">
                <a:latin typeface="Georgia"/>
                <a:cs typeface="Georgia"/>
              </a:rPr>
              <a:t>*/</a:t>
            </a:r>
            <a:endParaRPr sz="1100">
              <a:latin typeface="Georgia"/>
              <a:cs typeface="Georgia"/>
            </a:endParaRPr>
          </a:p>
          <a:p>
            <a:pPr marL="289560" marR="797560">
              <a:lnSpc>
                <a:spcPct val="121800"/>
              </a:lnSpc>
            </a:pPr>
            <a:r>
              <a:rPr dirty="0" sz="1100" spc="-10">
                <a:latin typeface="Tahoma"/>
                <a:cs typeface="Tahoma"/>
              </a:rPr>
              <a:t>Multi-</a:t>
            </a:r>
            <a:r>
              <a:rPr dirty="0" sz="1100">
                <a:latin typeface="Tahoma"/>
                <a:cs typeface="Tahoma"/>
              </a:rPr>
              <a:t>line</a:t>
            </a:r>
            <a:r>
              <a:rPr dirty="0" sz="1100" spc="-10">
                <a:latin typeface="Tahoma"/>
                <a:cs typeface="Tahoma"/>
              </a:rPr>
              <a:t> parsing </a:t>
            </a:r>
            <a:r>
              <a:rPr dirty="0" sz="1100">
                <a:latin typeface="Tahoma"/>
                <a:cs typeface="Tahoma"/>
              </a:rPr>
              <a:t>Output</a:t>
            </a:r>
            <a:r>
              <a:rPr dirty="0" sz="1100" spc="-65">
                <a:latin typeface="Tahoma"/>
                <a:cs typeface="Tahoma"/>
              </a:rPr>
              <a:t> </a:t>
            </a:r>
            <a:r>
              <a:rPr dirty="0" sz="1100">
                <a:latin typeface="Tahoma"/>
                <a:cs typeface="Tahoma"/>
              </a:rPr>
              <a:t>:</a:t>
            </a:r>
            <a:r>
              <a:rPr dirty="0" sz="1100" spc="-60">
                <a:latin typeface="Tahoma"/>
                <a:cs typeface="Tahoma"/>
              </a:rPr>
              <a:t> </a:t>
            </a:r>
            <a:r>
              <a:rPr dirty="0" sz="1100" spc="-45">
                <a:latin typeface="Tahoma"/>
                <a:cs typeface="Tahoma"/>
              </a:rPr>
              <a:t>Logstash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145"/>
              </a:spcBef>
            </a:pPr>
            <a:r>
              <a:rPr dirty="0" sz="1100" spc="-60" b="1">
                <a:latin typeface="Arial"/>
                <a:cs typeface="Arial"/>
              </a:rPr>
              <a:t>Logstash</a:t>
            </a:r>
            <a:r>
              <a:rPr dirty="0" sz="1100" spc="30" b="1">
                <a:latin typeface="Arial"/>
                <a:cs typeface="Arial"/>
              </a:rPr>
              <a:t> </a:t>
            </a:r>
            <a:r>
              <a:rPr dirty="0" sz="1100" spc="-50" b="1">
                <a:latin typeface="Arial"/>
                <a:cs typeface="Arial"/>
              </a:rPr>
              <a:t>:</a:t>
            </a:r>
            <a:endParaRPr sz="1100">
              <a:latin typeface="Arial"/>
              <a:cs typeface="Arial"/>
            </a:endParaRPr>
          </a:p>
          <a:p>
            <a:pPr marL="289560" marR="407034">
              <a:lnSpc>
                <a:spcPct val="121800"/>
              </a:lnSpc>
              <a:spcBef>
                <a:spcPts val="10"/>
              </a:spcBef>
            </a:pPr>
            <a:r>
              <a:rPr dirty="0" sz="1100" spc="-10">
                <a:latin typeface="Tahoma"/>
                <a:cs typeface="Tahoma"/>
              </a:rPr>
              <a:t>Filtres</a:t>
            </a:r>
            <a:r>
              <a:rPr dirty="0" sz="1100" spc="-35">
                <a:latin typeface="Tahoma"/>
                <a:cs typeface="Tahoma"/>
              </a:rPr>
              <a:t> </a:t>
            </a:r>
            <a:r>
              <a:rPr dirty="0" sz="1100" spc="-20">
                <a:latin typeface="Tahoma"/>
                <a:cs typeface="Tahoma"/>
              </a:rPr>
              <a:t>Grok </a:t>
            </a:r>
            <a:r>
              <a:rPr dirty="0" sz="1100" spc="-35">
                <a:latin typeface="Tahoma"/>
                <a:cs typeface="Tahoma"/>
              </a:rPr>
              <a:t>Enrichissement</a:t>
            </a:r>
            <a:r>
              <a:rPr dirty="0" sz="1100" spc="-15">
                <a:latin typeface="Tahoma"/>
                <a:cs typeface="Tahoma"/>
              </a:rPr>
              <a:t> </a:t>
            </a:r>
            <a:r>
              <a:rPr dirty="0" sz="1100" spc="-50">
                <a:latin typeface="Tahoma"/>
                <a:cs typeface="Tahoma"/>
              </a:rPr>
              <a:t>avec</a:t>
            </a:r>
            <a:r>
              <a:rPr dirty="0" sz="1100" spc="-5">
                <a:latin typeface="Tahoma"/>
                <a:cs typeface="Tahoma"/>
              </a:rPr>
              <a:t> </a:t>
            </a:r>
            <a:r>
              <a:rPr dirty="0" sz="1100" spc="-50">
                <a:latin typeface="Tahoma"/>
                <a:cs typeface="Tahoma"/>
              </a:rPr>
              <a:t>tags </a:t>
            </a:r>
            <a:r>
              <a:rPr dirty="0" sz="1100">
                <a:latin typeface="Tahoma"/>
                <a:cs typeface="Tahoma"/>
              </a:rPr>
              <a:t>Output</a:t>
            </a:r>
            <a:r>
              <a:rPr dirty="0" sz="1100" spc="-65">
                <a:latin typeface="Tahoma"/>
                <a:cs typeface="Tahoma"/>
              </a:rPr>
              <a:t> </a:t>
            </a:r>
            <a:r>
              <a:rPr dirty="0" sz="1100">
                <a:latin typeface="Tahoma"/>
                <a:cs typeface="Tahoma"/>
              </a:rPr>
              <a:t>:</a:t>
            </a:r>
            <a:r>
              <a:rPr dirty="0" sz="1100" spc="-60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Elasticsearch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145"/>
              </a:spcBef>
            </a:pPr>
            <a:r>
              <a:rPr dirty="0" sz="1100" spc="-55" b="1">
                <a:latin typeface="Arial"/>
                <a:cs typeface="Arial"/>
              </a:rPr>
              <a:t>Elasticsearch</a:t>
            </a:r>
            <a:r>
              <a:rPr dirty="0" sz="1100" spc="60" b="1">
                <a:latin typeface="Arial"/>
                <a:cs typeface="Arial"/>
              </a:rPr>
              <a:t> </a:t>
            </a:r>
            <a:r>
              <a:rPr dirty="0" sz="1100" spc="-50" b="1">
                <a:latin typeface="Arial"/>
                <a:cs typeface="Arial"/>
              </a:rPr>
              <a:t>:</a:t>
            </a:r>
            <a:endParaRPr sz="1100">
              <a:latin typeface="Arial"/>
              <a:cs typeface="Arial"/>
            </a:endParaRPr>
          </a:p>
          <a:p>
            <a:pPr marL="289560">
              <a:lnSpc>
                <a:spcPct val="100000"/>
              </a:lnSpc>
              <a:spcBef>
                <a:spcPts val="295"/>
              </a:spcBef>
            </a:pPr>
            <a:r>
              <a:rPr dirty="0" sz="1100" spc="-70">
                <a:latin typeface="Tahoma"/>
                <a:cs typeface="Tahoma"/>
              </a:rPr>
              <a:t>Index</a:t>
            </a:r>
            <a:r>
              <a:rPr dirty="0" sz="1100" spc="-20">
                <a:latin typeface="Tahoma"/>
                <a:cs typeface="Tahoma"/>
              </a:rPr>
              <a:t> pattern</a:t>
            </a:r>
            <a:r>
              <a:rPr dirty="0" sz="1100" spc="-40">
                <a:latin typeface="Tahoma"/>
                <a:cs typeface="Tahoma"/>
              </a:rPr>
              <a:t> </a:t>
            </a:r>
            <a:r>
              <a:rPr dirty="0" sz="1100">
                <a:latin typeface="Tahoma"/>
                <a:cs typeface="Tahoma"/>
              </a:rPr>
              <a:t>:</a:t>
            </a:r>
            <a:r>
              <a:rPr dirty="0" sz="1100" spc="-25">
                <a:latin typeface="Tahoma"/>
                <a:cs typeface="Tahoma"/>
              </a:rPr>
              <a:t> </a:t>
            </a:r>
            <a:r>
              <a:rPr dirty="0" sz="1100" spc="105">
                <a:latin typeface="Georgia"/>
                <a:cs typeface="Georgia"/>
              </a:rPr>
              <a:t>firefox-</a:t>
            </a:r>
            <a:r>
              <a:rPr dirty="0" sz="1100" spc="110">
                <a:latin typeface="Georgia"/>
                <a:cs typeface="Georgia"/>
              </a:rPr>
              <a:t>log-</a:t>
            </a:r>
            <a:r>
              <a:rPr dirty="0" sz="1100" spc="75">
                <a:latin typeface="Georgia"/>
                <a:cs typeface="Georgia"/>
              </a:rPr>
              <a:t>*</a:t>
            </a:r>
            <a:endParaRPr sz="1100">
              <a:latin typeface="Georgia"/>
              <a:cs typeface="Georgia"/>
            </a:endParaRPr>
          </a:p>
          <a:p>
            <a:pPr marL="289560" marR="255904">
              <a:lnSpc>
                <a:spcPct val="121800"/>
              </a:lnSpc>
            </a:pPr>
            <a:r>
              <a:rPr dirty="0" sz="1100" spc="-20">
                <a:latin typeface="Tahoma"/>
                <a:cs typeface="Tahoma"/>
              </a:rPr>
              <a:t>Mapping</a:t>
            </a:r>
            <a:r>
              <a:rPr dirty="0" sz="1100" spc="-10">
                <a:latin typeface="Tahoma"/>
                <a:cs typeface="Tahoma"/>
              </a:rPr>
              <a:t> </a:t>
            </a:r>
            <a:r>
              <a:rPr dirty="0" sz="1100" spc="50">
                <a:latin typeface="Tahoma"/>
                <a:cs typeface="Tahoma"/>
              </a:rPr>
              <a:t>p</a:t>
            </a:r>
            <a:r>
              <a:rPr dirty="0" sz="1100" spc="20">
                <a:latin typeface="Tahoma"/>
                <a:cs typeface="Tahoma"/>
              </a:rPr>
              <a:t>ersonnali</a:t>
            </a:r>
            <a:r>
              <a:rPr dirty="0" sz="1100" spc="-20">
                <a:latin typeface="Tahoma"/>
                <a:cs typeface="Tahoma"/>
              </a:rPr>
              <a:t>s</a:t>
            </a:r>
            <a:r>
              <a:rPr dirty="0" sz="1100" spc="-555">
                <a:latin typeface="Tahoma"/>
                <a:cs typeface="Tahoma"/>
              </a:rPr>
              <a:t>´</a:t>
            </a:r>
            <a:r>
              <a:rPr dirty="0" sz="1100" spc="20">
                <a:latin typeface="Tahoma"/>
                <a:cs typeface="Tahoma"/>
              </a:rPr>
              <a:t>e</a:t>
            </a:r>
            <a:r>
              <a:rPr dirty="0" sz="1100" spc="-25">
                <a:latin typeface="Tahoma"/>
                <a:cs typeface="Tahoma"/>
              </a:rPr>
              <a:t> </a:t>
            </a:r>
            <a:r>
              <a:rPr dirty="0" sz="1100" spc="-20">
                <a:latin typeface="Tahoma"/>
                <a:cs typeface="Tahoma"/>
              </a:rPr>
              <a:t>Optimi</a:t>
            </a:r>
            <a:r>
              <a:rPr dirty="0" sz="1100" spc="-60">
                <a:latin typeface="Tahoma"/>
                <a:cs typeface="Tahoma"/>
              </a:rPr>
              <a:t>s</a:t>
            </a:r>
            <a:r>
              <a:rPr dirty="0" sz="1100" spc="-595">
                <a:latin typeface="Tahoma"/>
                <a:cs typeface="Tahoma"/>
              </a:rPr>
              <a:t>´</a:t>
            </a:r>
            <a:r>
              <a:rPr dirty="0" sz="1100" spc="-20">
                <a:latin typeface="Tahoma"/>
                <a:cs typeface="Tahoma"/>
              </a:rPr>
              <a:t>e</a:t>
            </a:r>
            <a:r>
              <a:rPr dirty="0" sz="1100">
                <a:latin typeface="Tahoma"/>
                <a:cs typeface="Tahoma"/>
              </a:rPr>
              <a:t> </a:t>
            </a:r>
            <a:r>
              <a:rPr dirty="0" sz="1100" spc="-25">
                <a:latin typeface="Tahoma"/>
                <a:cs typeface="Tahoma"/>
              </a:rPr>
              <a:t>pour</a:t>
            </a:r>
            <a:r>
              <a:rPr dirty="0" sz="1100" spc="-50">
                <a:latin typeface="Tahoma"/>
                <a:cs typeface="Tahoma"/>
              </a:rPr>
              <a:t> </a:t>
            </a:r>
            <a:r>
              <a:rPr dirty="0" sz="1100" spc="-55">
                <a:latin typeface="Tahoma"/>
                <a:cs typeface="Tahoma"/>
              </a:rPr>
              <a:t>aggregations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dirty="0" spc="-10"/>
              <a:t>10</a:t>
            </a:fld>
            <a:r>
              <a:rPr dirty="0" spc="-85"/>
              <a:t> </a:t>
            </a:r>
            <a:r>
              <a:rPr dirty="0" spc="90"/>
              <a:t>/</a:t>
            </a:r>
            <a:r>
              <a:rPr dirty="0" spc="-85"/>
              <a:t> </a:t>
            </a:r>
            <a:r>
              <a:rPr dirty="0" spc="-35"/>
              <a:t>21</a:t>
            </a:r>
          </a:p>
        </p:txBody>
      </p:sp>
    </p:spTree>
  </p:cSld>
  <p:clrMapOvr>
    <a:masterClrMapping/>
  </p:clrMapOvr>
  <p:transition spd="fast">
    <p:cut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3333B2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OUHNI Kamal, MONCIF Mouad</dc:creator>
  <dc:title>Analyse et Visualisation des Logs Firefox - Utilisation de la Stack ELK</dc:title>
  <dcterms:created xsi:type="dcterms:W3CDTF">2025-11-10T23:59:35Z</dcterms:created>
  <dcterms:modified xsi:type="dcterms:W3CDTF">2025-11-10T23:59:35Z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2025-11-10T00:00:00Z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2025-11-10T00:00:00Z</vt:filetime>
  </property>
  <property fmtid="{D5CDD505-2E9C-101B-9397-08002B2CF9AE}" pid="5" name="PTEX.Fullbanner">
    <vt:lpwstr>This is pdfTeX, Version 3.141592653-2.6-1.40.27 (TeX Live 2025) kpathsea version 6.4.1</vt:lpwstr>
  </property>
  <property fmtid="{D5CDD505-2E9C-101B-9397-08002B2CF9AE}" pid="6" name="Producer">
    <vt:lpwstr>pdfTeX-1.40.27</vt:lpwstr>
  </property>
</Properties>
</file>