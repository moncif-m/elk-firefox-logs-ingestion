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A73A0-E037-2CFF-24FA-3C1521184D3A}" v="92" dt="2025-11-10T19:42:11.9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2167" y="768056"/>
            <a:ext cx="3901465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24441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92846"/>
            <a:ext cx="3465195" cy="1355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2689" y="3125241"/>
            <a:ext cx="2797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18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slide" Target="slide17.xml"/><Relationship Id="rId5" Type="http://schemas.openxmlformats.org/officeDocument/2006/relationships/slide" Target="slide4.xml"/><Relationship Id="rId15" Type="http://schemas.openxmlformats.org/officeDocument/2006/relationships/slide" Target="slide20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slide" Target="slide8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427443"/>
            <a:ext cx="5635625" cy="711200"/>
            <a:chOff x="87743" y="427443"/>
            <a:chExt cx="5635625" cy="711200"/>
          </a:xfrm>
        </p:grpSpPr>
        <p:sp>
          <p:nvSpPr>
            <p:cNvPr id="3" name="object 3"/>
            <p:cNvSpPr/>
            <p:nvPr/>
          </p:nvSpPr>
          <p:spPr>
            <a:xfrm>
              <a:off x="87743" y="427443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490704"/>
              <a:ext cx="5584825" cy="647700"/>
            </a:xfrm>
            <a:custGeom>
              <a:avLst/>
              <a:gdLst/>
              <a:ahLst/>
              <a:cxnLst/>
              <a:rect l="l" t="t" r="r" b="b"/>
              <a:pathLst>
                <a:path w="5584825" h="647700">
                  <a:moveTo>
                    <a:pt x="5584580" y="0"/>
                  </a:moveTo>
                  <a:lnTo>
                    <a:pt x="0" y="0"/>
                  </a:lnTo>
                  <a:lnTo>
                    <a:pt x="0" y="647343"/>
                  </a:lnTo>
                  <a:lnTo>
                    <a:pt x="5584580" y="647343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471867"/>
              <a:ext cx="5584825" cy="615950"/>
            </a:xfrm>
            <a:custGeom>
              <a:avLst/>
              <a:gdLst/>
              <a:ahLst/>
              <a:cxnLst/>
              <a:rect l="l" t="t" r="r" b="b"/>
              <a:pathLst>
                <a:path w="5584825" h="615950">
                  <a:moveTo>
                    <a:pt x="5584580" y="0"/>
                  </a:moveTo>
                  <a:lnTo>
                    <a:pt x="0" y="0"/>
                  </a:lnTo>
                  <a:lnTo>
                    <a:pt x="0" y="564579"/>
                  </a:lnTo>
                  <a:lnTo>
                    <a:pt x="4008" y="584304"/>
                  </a:lnTo>
                  <a:lnTo>
                    <a:pt x="14922" y="600456"/>
                  </a:lnTo>
                  <a:lnTo>
                    <a:pt x="31075" y="611371"/>
                  </a:lnTo>
                  <a:lnTo>
                    <a:pt x="50800" y="615379"/>
                  </a:lnTo>
                  <a:lnTo>
                    <a:pt x="5533779" y="615379"/>
                  </a:lnTo>
                  <a:lnTo>
                    <a:pt x="5553504" y="611371"/>
                  </a:lnTo>
                  <a:lnTo>
                    <a:pt x="5569657" y="600456"/>
                  </a:lnTo>
                  <a:lnTo>
                    <a:pt x="5580571" y="584304"/>
                  </a:lnTo>
                  <a:lnTo>
                    <a:pt x="5584580" y="564579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490704"/>
            <a:ext cx="5584825" cy="6477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Analyse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Visualisation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des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Logs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Firefox</a:t>
            </a:r>
            <a:endParaRPr sz="1400">
              <a:latin typeface="Tahoma"/>
              <a:cs typeface="Tahoma"/>
            </a:endParaRPr>
          </a:p>
          <a:p>
            <a:pPr marR="93345" algn="ctr">
              <a:lnSpc>
                <a:spcPct val="100000"/>
              </a:lnSpc>
              <a:spcBef>
                <a:spcPts val="325"/>
              </a:spcBef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Utilisation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Stack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ELK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62747" y="1297328"/>
            <a:ext cx="2035810" cy="788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  <a:tabLst>
                <a:tab pos="1035685" algn="l"/>
              </a:tabLst>
            </a:pPr>
            <a:r>
              <a:rPr sz="1100" dirty="0">
                <a:latin typeface="Tahoma"/>
                <a:cs typeface="Tahoma"/>
              </a:rPr>
              <a:t>OUHNI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Kamal</a:t>
            </a:r>
            <a:r>
              <a:rPr sz="1100" dirty="0">
                <a:latin typeface="Tahoma"/>
                <a:cs typeface="Tahoma"/>
              </a:rPr>
              <a:t>	MONCIF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Mouad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800" spc="-10" dirty="0">
                <a:latin typeface="Tahoma"/>
                <a:cs typeface="Tahoma"/>
              </a:rPr>
              <a:t>ENSIAS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spc="-20" dirty="0">
                <a:latin typeface="Tahoma"/>
                <a:cs typeface="Tahoma"/>
              </a:rPr>
              <a:t>10 </a:t>
            </a:r>
            <a:r>
              <a:rPr sz="1100" spc="-70" dirty="0">
                <a:latin typeface="Tahoma"/>
                <a:cs typeface="Tahoma"/>
              </a:rPr>
              <a:t>novembre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2025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1819" y="2645472"/>
            <a:ext cx="1936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latin typeface="Arial"/>
                <a:cs typeface="Arial"/>
              </a:rPr>
              <a:t>Encadrant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Noureddine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Kerzazi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Plan</a:t>
            </a:r>
            <a:r>
              <a:rPr spc="-20" dirty="0"/>
              <a:t> </a:t>
            </a:r>
            <a:r>
              <a:rPr spc="-50"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spc="-30" dirty="0"/>
              <a:t>P</a:t>
            </a:r>
            <a:r>
              <a:rPr spc="-70" dirty="0"/>
              <a:t>r</a:t>
            </a:r>
            <a:r>
              <a:rPr spc="-755" dirty="0"/>
              <a:t>´</a:t>
            </a:r>
            <a:r>
              <a:rPr spc="-30" dirty="0"/>
              <a:t>esentation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62139"/>
            <a:ext cx="160096" cy="1600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9743" y="66147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173" y="634046"/>
            <a:ext cx="734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983081"/>
            <a:ext cx="160096" cy="160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9743" y="954987"/>
            <a:ext cx="900430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baseline="6944" dirty="0">
                <a:solidFill>
                  <a:srgbClr val="EAEAF7"/>
                </a:solidFill>
                <a:latin typeface="Tahoma"/>
                <a:cs typeface="Tahoma"/>
              </a:rPr>
              <a:t>2 </a:t>
            </a:r>
            <a:r>
              <a:rPr lang="en-US" sz="1200" spc="262" baseline="6944" dirty="0">
                <a:solidFill>
                  <a:srgbClr val="EAEAF7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Architecture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304023"/>
            <a:ext cx="160096" cy="1600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9743" y="130336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5173" y="1275929"/>
            <a:ext cx="1311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Ingestion</a:t>
            </a:r>
            <a:r>
              <a:rPr sz="1100" spc="-2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6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des</a:t>
            </a:r>
            <a:r>
              <a:rPr sz="1100" spc="-1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Don</a:t>
            </a:r>
            <a:r>
              <a:rPr sz="1100" spc="-8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n</a:t>
            </a:r>
            <a:r>
              <a:rPr sz="1100" spc="-62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´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ees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624964"/>
            <a:ext cx="160096" cy="1600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9743" y="162430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173" y="1596871"/>
            <a:ext cx="805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Visualisations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945906"/>
            <a:ext cx="160096" cy="1600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9743" y="1917812"/>
            <a:ext cx="121602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baseline="6944" dirty="0">
                <a:solidFill>
                  <a:srgbClr val="EAEAF7"/>
                </a:solidFill>
                <a:latin typeface="Tahoma"/>
                <a:cs typeface="Tahoma"/>
              </a:rPr>
              <a:t>5 </a:t>
            </a:r>
            <a:r>
              <a:rPr lang="en-US" sz="1200" spc="217" baseline="6944" dirty="0">
                <a:solidFill>
                  <a:srgbClr val="EAEAF7"/>
                </a:solidFill>
                <a:latin typeface="Tahoma"/>
                <a:cs typeface="Tahoma"/>
              </a:rPr>
              <a:t> </a:t>
            </a:r>
            <a:r>
              <a:rPr lang="en-US" sz="1100" spc="-10" dirty="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Machine</a:t>
            </a:r>
            <a:r>
              <a:rPr lang="en-US" sz="1100" spc="-40" dirty="0">
                <a:solidFill>
                  <a:srgbClr val="3333B2"/>
                </a:solidFill>
                <a:latin typeface="Tahoma"/>
                <a:cs typeface="Tahoma"/>
                <a:hlinkClick r:id="" action="ppaction://noaction"/>
              </a:rPr>
              <a:t> Learning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266848"/>
            <a:ext cx="160096" cy="16009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9743" y="226618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6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173" y="2238754"/>
            <a:ext cx="554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R</a:t>
            </a:r>
            <a:r>
              <a:rPr sz="1100" spc="-600" dirty="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´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esultats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9280" y="2587790"/>
            <a:ext cx="160096" cy="16009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9743" y="2559696"/>
            <a:ext cx="814069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baseline="6944" dirty="0">
                <a:solidFill>
                  <a:srgbClr val="EAEAF7"/>
                </a:solidFill>
                <a:latin typeface="Tahoma"/>
                <a:cs typeface="Tahoma"/>
              </a:rPr>
              <a:t>7 </a:t>
            </a:r>
            <a:r>
              <a:rPr lang="en-US" sz="1200" spc="262" baseline="6944" dirty="0">
                <a:solidFill>
                  <a:srgbClr val="EAEAF7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Conclusion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Contexte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7704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28708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49711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209717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911" y="230720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2517241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667" y="739785"/>
            <a:ext cx="2038350" cy="18859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55" dirty="0">
                <a:latin typeface="Arial"/>
                <a:cs typeface="Arial"/>
              </a:rPr>
              <a:t>Probl´ematique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</a:pPr>
            <a:r>
              <a:rPr sz="1100" spc="-30" dirty="0">
                <a:latin typeface="Tahoma"/>
                <a:cs typeface="Tahoma"/>
              </a:rPr>
              <a:t>Analyse</a:t>
            </a:r>
            <a:r>
              <a:rPr sz="1100" spc="-35" dirty="0">
                <a:latin typeface="Tahoma"/>
                <a:cs typeface="Tahoma"/>
              </a:rPr>
              <a:t> de </a:t>
            </a:r>
            <a:r>
              <a:rPr sz="1100" spc="-40" dirty="0">
                <a:latin typeface="Tahoma"/>
                <a:cs typeface="Tahoma"/>
              </a:rPr>
              <a:t>logs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Firefox </a:t>
            </a:r>
            <a:r>
              <a:rPr sz="1100" spc="-30" dirty="0">
                <a:latin typeface="Tahoma"/>
                <a:cs typeface="Tahoma"/>
              </a:rPr>
              <a:t>Volume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</a:t>
            </a:r>
            <a:r>
              <a:rPr sz="1100" spc="-35" dirty="0">
                <a:latin typeface="Tahoma"/>
                <a:cs typeface="Tahoma"/>
              </a:rPr>
              <a:t> de </a:t>
            </a:r>
            <a:r>
              <a:rPr sz="1100" spc="-60" dirty="0">
                <a:latin typeface="Tahoma"/>
                <a:cs typeface="Tahoma"/>
              </a:rPr>
              <a:t>don</a:t>
            </a:r>
            <a:r>
              <a:rPr sz="1100" spc="-95" dirty="0">
                <a:latin typeface="Tahoma"/>
                <a:cs typeface="Tahoma"/>
              </a:rPr>
              <a:t>n</a:t>
            </a:r>
            <a:r>
              <a:rPr sz="1100" spc="-635" dirty="0">
                <a:latin typeface="Tahoma"/>
                <a:cs typeface="Tahoma"/>
              </a:rPr>
              <a:t>´</a:t>
            </a:r>
            <a:r>
              <a:rPr sz="1100" spc="-60" dirty="0">
                <a:latin typeface="Tahoma"/>
                <a:cs typeface="Tahoma"/>
              </a:rPr>
              <a:t>ees</a:t>
            </a:r>
            <a:r>
              <a:rPr sz="1100" spc="-1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</a:t>
            </a:r>
            <a:r>
              <a:rPr sz="1100" spc="-605" dirty="0">
                <a:latin typeface="Tahoma"/>
                <a:cs typeface="Tahoma"/>
              </a:rPr>
              <a:t>´</a:t>
            </a:r>
            <a:r>
              <a:rPr sz="1100" spc="-30" dirty="0">
                <a:latin typeface="Tahoma"/>
                <a:cs typeface="Tahoma"/>
              </a:rPr>
              <a:t>etection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d’anomalies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Objectif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 marR="191770">
              <a:lnSpc>
                <a:spcPct val="125299"/>
              </a:lnSpc>
            </a:pPr>
            <a:r>
              <a:rPr sz="1100" spc="-20" dirty="0">
                <a:latin typeface="Tahoma"/>
                <a:cs typeface="Tahoma"/>
              </a:rPr>
              <a:t>Visualisation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temps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r</a:t>
            </a:r>
            <a:r>
              <a:rPr sz="1100" spc="-615" dirty="0">
                <a:latin typeface="Tahoma"/>
                <a:cs typeface="Tahoma"/>
              </a:rPr>
              <a:t>´</a:t>
            </a:r>
            <a:r>
              <a:rPr sz="1100" spc="-40" dirty="0">
                <a:latin typeface="Tahoma"/>
                <a:cs typeface="Tahoma"/>
              </a:rPr>
              <a:t>eel</a:t>
            </a:r>
            <a:r>
              <a:rPr sz="1100" spc="-20" dirty="0">
                <a:latin typeface="Tahoma"/>
                <a:cs typeface="Tahoma"/>
              </a:rPr>
              <a:t> Monitoring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builds </a:t>
            </a:r>
            <a:r>
              <a:rPr sz="1100" spc="-65" dirty="0">
                <a:latin typeface="Tahoma"/>
                <a:cs typeface="Tahoma"/>
              </a:rPr>
              <a:t>D</a:t>
            </a:r>
            <a:r>
              <a:rPr sz="1100" spc="-605" dirty="0">
                <a:latin typeface="Tahoma"/>
                <a:cs typeface="Tahoma"/>
              </a:rPr>
              <a:t>´</a:t>
            </a:r>
            <a:r>
              <a:rPr sz="1100" spc="-30" dirty="0">
                <a:latin typeface="Tahoma"/>
                <a:cs typeface="Tahoma"/>
              </a:rPr>
              <a:t>etection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automatique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26181" y="583835"/>
            <a:ext cx="2741568" cy="240942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16910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Projet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267" y="448021"/>
            <a:ext cx="2741568" cy="24094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56271" y="2928898"/>
            <a:ext cx="3648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Arial"/>
                <a:cs typeface="Arial"/>
              </a:rPr>
              <a:t>Stack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ELK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Filebeat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Logstash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Tahoma"/>
                <a:cs typeface="Tahoma"/>
              </a:rPr>
              <a:t>Elasticsearch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Tahoma"/>
                <a:cs typeface="Tahoma"/>
              </a:rPr>
              <a:t>Kibana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Composants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17958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38962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98968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2199716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9667" y="842325"/>
            <a:ext cx="2411730" cy="14662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35" dirty="0">
                <a:latin typeface="Arial"/>
                <a:cs typeface="Arial"/>
              </a:rPr>
              <a:t>Ingestion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Tahoma"/>
                <a:cs typeface="Tahoma"/>
              </a:rPr>
              <a:t>Filebeat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Collecte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logs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30" dirty="0">
                <a:latin typeface="Tahoma"/>
                <a:cs typeface="Tahoma"/>
              </a:rPr>
              <a:t>Logstash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Parsing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transformation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ahoma"/>
              <a:cs typeface="Tahoma"/>
            </a:endParaRPr>
          </a:p>
          <a:p>
            <a:pPr marL="289560" marR="646430" indent="-277495">
              <a:lnSpc>
                <a:spcPct val="125299"/>
              </a:lnSpc>
            </a:pPr>
            <a:r>
              <a:rPr sz="1100" b="1" spc="-35" dirty="0">
                <a:latin typeface="Arial"/>
                <a:cs typeface="Arial"/>
              </a:rPr>
              <a:t>Stockage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Analyse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 </a:t>
            </a:r>
            <a:r>
              <a:rPr sz="1100" spc="-30" dirty="0">
                <a:latin typeface="Tahoma"/>
                <a:cs typeface="Tahoma"/>
              </a:rPr>
              <a:t>Elasticsearch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Indexation </a:t>
            </a:r>
            <a:r>
              <a:rPr sz="1100" dirty="0">
                <a:latin typeface="Tahoma"/>
                <a:cs typeface="Tahoma"/>
              </a:rPr>
              <a:t>Kibana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Visualisation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26181" y="1234097"/>
            <a:ext cx="2741485" cy="8669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1475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Pipeline</a:t>
            </a:r>
            <a:r>
              <a:rPr sz="1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d’Ingestion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11" y="745049"/>
            <a:ext cx="4934941" cy="15606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6256" y="2440379"/>
            <a:ext cx="3587750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60" dirty="0" err="1">
                <a:latin typeface="Arial"/>
                <a:cs typeface="Arial"/>
              </a:rPr>
              <a:t>Résultat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Documents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 err="1">
                <a:latin typeface="Tahoma"/>
                <a:cs typeface="Tahoma"/>
              </a:rPr>
              <a:t>in</a:t>
            </a:r>
            <a:r>
              <a:rPr sz="1100" spc="-90" dirty="0" err="1">
                <a:latin typeface="Tahoma"/>
                <a:cs typeface="Tahoma"/>
              </a:rPr>
              <a:t>g</a:t>
            </a:r>
            <a:r>
              <a:rPr sz="1100" spc="-625" dirty="0" err="1">
                <a:latin typeface="Tahoma"/>
                <a:cs typeface="Tahoma"/>
              </a:rPr>
              <a:t>´</a:t>
            </a:r>
            <a:r>
              <a:rPr lang="en-US" sz="1100" spc="-50" dirty="0" err="1">
                <a:latin typeface="Tahoma"/>
                <a:cs typeface="Tahoma"/>
              </a:rPr>
              <a:t>est</a:t>
            </a:r>
            <a:r>
              <a:rPr sz="1100" spc="-625" dirty="0" err="1">
                <a:latin typeface="Tahoma"/>
                <a:cs typeface="Tahoma"/>
              </a:rPr>
              <a:t>´</a:t>
            </a:r>
            <a:r>
              <a:rPr sz="1100" spc="-50" dirty="0" err="1">
                <a:latin typeface="Tahoma"/>
                <a:cs typeface="Tahoma"/>
              </a:rPr>
              <a:t>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avec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 err="1">
                <a:latin typeface="Tahoma"/>
                <a:cs typeface="Tahoma"/>
              </a:rPr>
              <a:t>suc</a:t>
            </a:r>
            <a:r>
              <a:rPr sz="1100" spc="-100" dirty="0" err="1">
                <a:latin typeface="Tahoma"/>
                <a:cs typeface="Tahoma"/>
              </a:rPr>
              <a:t>c</a:t>
            </a:r>
            <a:r>
              <a:rPr sz="1100" spc="-635" dirty="0" err="1">
                <a:latin typeface="Tahoma"/>
                <a:cs typeface="Tahoma"/>
              </a:rPr>
              <a:t>`</a:t>
            </a:r>
            <a:r>
              <a:rPr sz="1100" spc="-60" dirty="0" err="1">
                <a:latin typeface="Tahoma"/>
                <a:cs typeface="Tahoma"/>
              </a:rPr>
              <a:t>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dans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Elasticsearch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Mapping</a:t>
            </a:r>
            <a:r>
              <a:rPr spc="-60" dirty="0"/>
              <a:t> </a:t>
            </a:r>
            <a:r>
              <a:rPr spc="-40" dirty="0"/>
              <a:t>Elasticsearch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552" y="447986"/>
            <a:ext cx="1644891" cy="2078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68757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2604120"/>
            <a:ext cx="187388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70" dirty="0">
                <a:latin typeface="Tahoma"/>
                <a:cs typeface="Tahoma"/>
              </a:rPr>
              <a:t>Index</a:t>
            </a:r>
            <a:r>
              <a:rPr sz="1100" spc="-20" dirty="0">
                <a:latin typeface="Tahoma"/>
                <a:cs typeface="Tahoma"/>
              </a:rPr>
              <a:t> pattern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140" dirty="0">
                <a:latin typeface="Calibri"/>
                <a:cs typeface="Calibri"/>
              </a:rPr>
              <a:t>firefox-</a:t>
            </a:r>
            <a:r>
              <a:rPr sz="1100" spc="145" dirty="0">
                <a:latin typeface="Calibri"/>
                <a:cs typeface="Calibri"/>
              </a:rPr>
              <a:t>log-</a:t>
            </a:r>
            <a:r>
              <a:rPr sz="1100" spc="140" dirty="0">
                <a:latin typeface="Calibri"/>
                <a:cs typeface="Calibri"/>
              </a:rPr>
              <a:t>* </a:t>
            </a:r>
            <a:r>
              <a:rPr sz="1100" spc="-35" dirty="0">
                <a:latin typeface="Tahoma"/>
                <a:cs typeface="Tahoma"/>
              </a:rPr>
              <a:t>Types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champs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o</a:t>
            </a:r>
            <a:r>
              <a:rPr sz="1100" spc="40" dirty="0">
                <a:latin typeface="Tahoma"/>
                <a:cs typeface="Tahoma"/>
              </a:rPr>
              <a:t>p</a:t>
            </a:r>
            <a:r>
              <a:rPr sz="1100" spc="50" dirty="0">
                <a:latin typeface="Tahoma"/>
                <a:cs typeface="Tahoma"/>
              </a:rPr>
              <a:t>t</a:t>
            </a:r>
            <a:r>
              <a:rPr sz="1100" spc="45" dirty="0">
                <a:latin typeface="Tahoma"/>
                <a:cs typeface="Tahoma"/>
              </a:rPr>
              <a:t>i</a:t>
            </a:r>
            <a:r>
              <a:rPr sz="1100" spc="50" dirty="0">
                <a:latin typeface="Tahoma"/>
                <a:cs typeface="Tahoma"/>
              </a:rPr>
              <a:t>mi</a:t>
            </a:r>
            <a:r>
              <a:rPr sz="1100" spc="10" dirty="0">
                <a:latin typeface="Tahoma"/>
                <a:cs typeface="Tahoma"/>
              </a:rPr>
              <a:t>s</a:t>
            </a:r>
            <a:r>
              <a:rPr sz="1100" spc="-525" dirty="0">
                <a:latin typeface="Tahoma"/>
                <a:cs typeface="Tahoma"/>
              </a:rPr>
              <a:t>´</a:t>
            </a:r>
            <a:r>
              <a:rPr sz="1100" spc="50" dirty="0">
                <a:latin typeface="Tahoma"/>
                <a:cs typeface="Tahoma"/>
              </a:rPr>
              <a:t>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Configuration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aggregations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85964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3031718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18116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6852" y="757464"/>
            <a:ext cx="2486660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Vue </a:t>
            </a:r>
            <a:r>
              <a:rPr sz="1100" b="1" spc="-50" dirty="0">
                <a:latin typeface="Arial"/>
                <a:cs typeface="Arial"/>
              </a:rPr>
              <a:t>d’ensemble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lang="en-US" sz="1100" b="1" spc="-40">
                <a:latin typeface="Arial"/>
                <a:cs typeface="Arial"/>
              </a:rPr>
              <a:t>l’activité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des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builds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1167443"/>
            <a:ext cx="2741277" cy="15529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181" y="1161767"/>
            <a:ext cx="2741352" cy="15643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355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(suite)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927795"/>
            <a:ext cx="2741352" cy="15522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181" y="922398"/>
            <a:ext cx="2741314" cy="15630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197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Overview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(fin)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828" y="448009"/>
            <a:ext cx="4386278" cy="25271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4517" y="3023053"/>
            <a:ext cx="4692650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2700">
              <a:lnSpc>
                <a:spcPts val="1170"/>
              </a:lnSpc>
            </a:pPr>
            <a:r>
              <a:rPr lang="en-US" sz="1100" b="1" spc="-55" dirty="0" err="1">
                <a:latin typeface="Arial"/>
                <a:cs typeface="Arial"/>
              </a:rPr>
              <a:t>Métriques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lang="en-US" sz="1100" b="1" spc="-135" dirty="0" err="1">
                <a:latin typeface="Arial"/>
                <a:cs typeface="Arial"/>
              </a:rPr>
              <a:t>clés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builds,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Taux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suc</a:t>
            </a:r>
            <a:r>
              <a:rPr sz="1100" spc="-95" dirty="0">
                <a:latin typeface="Tahoma"/>
                <a:cs typeface="Tahoma"/>
              </a:rPr>
              <a:t>c</a:t>
            </a:r>
            <a:r>
              <a:rPr sz="1100" spc="-630" dirty="0">
                <a:latin typeface="Tahoma"/>
                <a:cs typeface="Tahoma"/>
              </a:rPr>
              <a:t>`</a:t>
            </a:r>
            <a:r>
              <a:rPr sz="1100" spc="-55" dirty="0">
                <a:latin typeface="Tahoma"/>
                <a:cs typeface="Tahoma"/>
              </a:rPr>
              <a:t>es,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Timeline, </a:t>
            </a:r>
            <a:r>
              <a:rPr sz="1100" dirty="0">
                <a:latin typeface="Tahoma"/>
                <a:cs typeface="Tahoma"/>
              </a:rPr>
              <a:t>Top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builders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058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Performance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4980" y="747228"/>
            <a:ext cx="307022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50" dirty="0">
                <a:latin typeface="Arial"/>
                <a:cs typeface="Arial"/>
              </a:rPr>
              <a:t>Analyse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des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performances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et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lang="en-US" sz="1100" b="1" spc="-110" dirty="0" err="1">
                <a:latin typeface="Arial"/>
                <a:cs typeface="Arial"/>
              </a:rPr>
              <a:t>durées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lang="en-US" sz="1100" b="1" spc="-60" dirty="0" err="1">
                <a:latin typeface="Arial"/>
                <a:cs typeface="Arial"/>
              </a:rPr>
              <a:t>d’exécution</a:t>
            </a:r>
            <a:endParaRPr sz="1100" dirty="0" err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1184945"/>
            <a:ext cx="2741460" cy="1550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181" y="1178456"/>
            <a:ext cx="2741314" cy="156300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6028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Performance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(suite)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921985"/>
            <a:ext cx="2741334" cy="15695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181" y="911068"/>
            <a:ext cx="2741442" cy="15913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Dashboard </a:t>
            </a:r>
            <a:r>
              <a:rPr dirty="0"/>
              <a:t>2</a:t>
            </a:r>
            <a:r>
              <a:rPr spc="-40" dirty="0"/>
              <a:t> </a:t>
            </a:r>
            <a:r>
              <a:rPr dirty="0"/>
              <a:t>:</a:t>
            </a:r>
            <a:r>
              <a:rPr spc="-45" dirty="0"/>
              <a:t> Performance</a:t>
            </a:r>
            <a:r>
              <a:rPr spc="-40" dirty="0"/>
              <a:t> </a:t>
            </a:r>
            <a:r>
              <a:rPr spc="-20" dirty="0"/>
              <a:t>(fin)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828" y="448007"/>
            <a:ext cx="4386278" cy="25078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1754" y="3027284"/>
            <a:ext cx="4617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Arial"/>
                <a:cs typeface="Arial"/>
              </a:rPr>
              <a:t>Analyses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Du</a:t>
            </a:r>
            <a:r>
              <a:rPr sz="1100" spc="-80" dirty="0">
                <a:latin typeface="Tahoma"/>
                <a:cs typeface="Tahoma"/>
              </a:rPr>
              <a:t>r</a:t>
            </a:r>
            <a:r>
              <a:rPr sz="1100" spc="-620" dirty="0">
                <a:latin typeface="Tahoma"/>
                <a:cs typeface="Tahoma"/>
              </a:rPr>
              <a:t>´</a:t>
            </a:r>
            <a:r>
              <a:rPr sz="1100" spc="-45" dirty="0">
                <a:latin typeface="Tahoma"/>
                <a:cs typeface="Tahoma"/>
              </a:rPr>
              <a:t>ee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moyenne,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Top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steps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lents, </a:t>
            </a:r>
            <a:r>
              <a:rPr sz="1100" spc="-595" dirty="0">
                <a:latin typeface="Tahoma"/>
                <a:cs typeface="Tahoma"/>
              </a:rPr>
              <a:t>E</a:t>
            </a:r>
            <a:r>
              <a:rPr sz="1650" spc="37" baseline="12626" dirty="0">
                <a:latin typeface="Tahoma"/>
                <a:cs typeface="Tahoma"/>
              </a:rPr>
              <a:t>´</a:t>
            </a:r>
            <a:r>
              <a:rPr sz="1100" spc="-25" dirty="0">
                <a:latin typeface="Tahoma"/>
                <a:cs typeface="Tahoma"/>
              </a:rPr>
              <a:t>volution,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Heatmap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8089" y="3107098"/>
            <a:ext cx="2540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Tahoma"/>
                <a:cs typeface="Tahoma"/>
              </a:rPr>
              <a:t>13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90" dirty="0">
                <a:latin typeface="Tahoma"/>
                <a:cs typeface="Tahoma"/>
              </a:rPr>
              <a:t>/</a:t>
            </a:r>
            <a:r>
              <a:rPr sz="600" spc="-85" dirty="0">
                <a:latin typeface="Tahoma"/>
                <a:cs typeface="Tahoma"/>
              </a:rPr>
              <a:t> </a:t>
            </a:r>
            <a:r>
              <a:rPr sz="600" spc="-35" dirty="0">
                <a:latin typeface="Tahoma"/>
                <a:cs typeface="Tahoma"/>
              </a:rPr>
              <a:t>23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1891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Anomalies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0098" y="749794"/>
            <a:ext cx="2259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latin typeface="Arial"/>
                <a:cs typeface="Arial"/>
              </a:rPr>
              <a:t>D´etection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et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analyse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des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anomalies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1572545"/>
            <a:ext cx="2741309" cy="7735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181" y="1181038"/>
            <a:ext cx="2741383" cy="155657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4352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Dashboard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Anomalies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(suite)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7" y="921109"/>
            <a:ext cx="2741554" cy="15661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6181" y="1311864"/>
            <a:ext cx="2741320" cy="7847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708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Dashboard</a:t>
            </a:r>
            <a:r>
              <a:rPr spc="-50" dirty="0"/>
              <a:t> </a:t>
            </a:r>
            <a:r>
              <a:rPr dirty="0"/>
              <a:t>3</a:t>
            </a:r>
            <a:r>
              <a:rPr spc="-45" dirty="0"/>
              <a:t> </a:t>
            </a:r>
            <a:r>
              <a:rPr dirty="0"/>
              <a:t>:</a:t>
            </a:r>
            <a:r>
              <a:rPr spc="-50" dirty="0"/>
              <a:t> </a:t>
            </a:r>
            <a:r>
              <a:rPr spc="-80" dirty="0"/>
              <a:t>R</a:t>
            </a:r>
            <a:r>
              <a:rPr spc="-765" dirty="0"/>
              <a:t>´</a:t>
            </a:r>
            <a:r>
              <a:rPr spc="-40" dirty="0"/>
              <a:t>esu</a:t>
            </a:r>
            <a:r>
              <a:rPr spc="-85" dirty="0"/>
              <a:t>m</a:t>
            </a:r>
            <a:r>
              <a:rPr spc="-765" dirty="0"/>
              <a:t>´</a:t>
            </a:r>
            <a:r>
              <a:rPr spc="-40" dirty="0"/>
              <a:t>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501775">
              <a:lnSpc>
                <a:spcPct val="100000"/>
              </a:lnSpc>
              <a:spcBef>
                <a:spcPts val="90"/>
              </a:spcBef>
            </a:pPr>
            <a:r>
              <a:rPr dirty="0"/>
              <a:t>6</a:t>
            </a:r>
            <a:r>
              <a:rPr spc="40" dirty="0"/>
              <a:t> </a:t>
            </a:r>
            <a:r>
              <a:rPr spc="-60" dirty="0" err="1"/>
              <a:t>visualisations</a:t>
            </a:r>
            <a:r>
              <a:rPr spc="45" dirty="0"/>
              <a:t> </a:t>
            </a:r>
            <a:r>
              <a:rPr spc="-25" dirty="0"/>
              <a:t>pour</a:t>
            </a:r>
            <a:r>
              <a:rPr spc="40" dirty="0"/>
              <a:t> </a:t>
            </a:r>
            <a:r>
              <a:rPr lang="en-US" spc="-55" dirty="0" err="1"/>
              <a:t>détecter</a:t>
            </a:r>
            <a:r>
              <a:rPr spc="45" dirty="0"/>
              <a:t> </a:t>
            </a:r>
            <a:r>
              <a:rPr spc="-50" dirty="0"/>
              <a:t>:</a:t>
            </a:r>
          </a:p>
          <a:p>
            <a:pPr marL="12700" marR="1663700">
              <a:lnSpc>
                <a:spcPct val="125299"/>
              </a:lnSpc>
              <a:spcBef>
                <a:spcPts val="894"/>
              </a:spcBef>
            </a:pPr>
            <a:r>
              <a:rPr b="0" spc="-40" dirty="0">
                <a:latin typeface="Tahoma"/>
                <a:cs typeface="Tahoma"/>
              </a:rPr>
              <a:t>Nombre</a:t>
            </a:r>
            <a:r>
              <a:rPr b="0" spc="-50" dirty="0">
                <a:latin typeface="Tahoma"/>
                <a:cs typeface="Tahoma"/>
              </a:rPr>
              <a:t> </a:t>
            </a:r>
            <a:r>
              <a:rPr b="0" dirty="0">
                <a:latin typeface="Tahoma"/>
                <a:cs typeface="Tahoma"/>
              </a:rPr>
              <a:t>et</a:t>
            </a:r>
            <a:r>
              <a:rPr b="0" spc="-35" dirty="0">
                <a:latin typeface="Tahoma"/>
                <a:cs typeface="Tahoma"/>
              </a:rPr>
              <a:t> </a:t>
            </a:r>
            <a:r>
              <a:rPr b="0" spc="-25" dirty="0">
                <a:latin typeface="Tahoma"/>
                <a:cs typeface="Tahoma"/>
              </a:rPr>
              <a:t>timeline</a:t>
            </a:r>
            <a:r>
              <a:rPr b="0" spc="-35" dirty="0">
                <a:latin typeface="Tahoma"/>
                <a:cs typeface="Tahoma"/>
              </a:rPr>
              <a:t> </a:t>
            </a:r>
            <a:r>
              <a:rPr b="0" spc="-65" dirty="0">
                <a:latin typeface="Tahoma"/>
                <a:cs typeface="Tahoma"/>
              </a:rPr>
              <a:t>des</a:t>
            </a:r>
            <a:r>
              <a:rPr b="0" spc="-20" dirty="0">
                <a:latin typeface="Tahoma"/>
                <a:cs typeface="Tahoma"/>
              </a:rPr>
              <a:t> </a:t>
            </a:r>
            <a:r>
              <a:rPr b="0" spc="-60" dirty="0">
                <a:latin typeface="Tahoma"/>
                <a:cs typeface="Tahoma"/>
              </a:rPr>
              <a:t>erreurs </a:t>
            </a:r>
            <a:r>
              <a:rPr b="0" dirty="0">
                <a:latin typeface="Tahoma"/>
                <a:cs typeface="Tahoma"/>
              </a:rPr>
              <a:t>Top</a:t>
            </a:r>
            <a:r>
              <a:rPr b="0" spc="-30" dirty="0">
                <a:latin typeface="Tahoma"/>
                <a:cs typeface="Tahoma"/>
              </a:rPr>
              <a:t> </a:t>
            </a:r>
            <a:r>
              <a:rPr b="0" spc="-80" dirty="0">
                <a:latin typeface="Tahoma"/>
                <a:cs typeface="Tahoma"/>
              </a:rPr>
              <a:t>messages</a:t>
            </a:r>
            <a:r>
              <a:rPr b="0" spc="-10" dirty="0">
                <a:latin typeface="Tahoma"/>
                <a:cs typeface="Tahoma"/>
              </a:rPr>
              <a:t> d’erreurs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0" dirty="0">
                <a:latin typeface="Tahoma"/>
                <a:cs typeface="Tahoma"/>
              </a:rPr>
              <a:t>Builds</a:t>
            </a:r>
            <a:r>
              <a:rPr b="0" spc="-85" dirty="0">
                <a:latin typeface="Tahoma"/>
                <a:cs typeface="Tahoma"/>
              </a:rPr>
              <a:t> </a:t>
            </a:r>
            <a:r>
              <a:rPr b="0" spc="-65" dirty="0">
                <a:latin typeface="Tahoma"/>
                <a:cs typeface="Tahoma"/>
              </a:rPr>
              <a:t>en</a:t>
            </a:r>
            <a:r>
              <a:rPr b="0" spc="-15" dirty="0">
                <a:latin typeface="Tahoma"/>
                <a:cs typeface="Tahoma"/>
              </a:rPr>
              <a:t> </a:t>
            </a:r>
            <a:r>
              <a:rPr b="0" spc="-490" dirty="0">
                <a:latin typeface="Tahoma"/>
                <a:cs typeface="Tahoma"/>
              </a:rPr>
              <a:t>´</a:t>
            </a:r>
            <a:r>
              <a:rPr b="0" spc="85" dirty="0">
                <a:latin typeface="Tahoma"/>
                <a:cs typeface="Tahoma"/>
              </a:rPr>
              <a:t>echec</a:t>
            </a:r>
          </a:p>
          <a:p>
            <a:pPr marL="12700" marR="1903095">
              <a:lnSpc>
                <a:spcPct val="125299"/>
              </a:lnSpc>
            </a:pPr>
            <a:r>
              <a:rPr b="0" spc="-30" dirty="0">
                <a:latin typeface="Tahoma"/>
                <a:cs typeface="Tahoma"/>
              </a:rPr>
              <a:t>Steps</a:t>
            </a:r>
            <a:r>
              <a:rPr b="0" spc="-45" dirty="0">
                <a:latin typeface="Tahoma"/>
                <a:cs typeface="Tahoma"/>
              </a:rPr>
              <a:t> avec</a:t>
            </a:r>
            <a:r>
              <a:rPr b="0" spc="-10" dirty="0">
                <a:latin typeface="Tahoma"/>
                <a:cs typeface="Tahoma"/>
              </a:rPr>
              <a:t> </a:t>
            </a:r>
            <a:r>
              <a:rPr b="0" spc="-60" dirty="0">
                <a:latin typeface="Tahoma"/>
                <a:cs typeface="Tahoma"/>
              </a:rPr>
              <a:t>du</a:t>
            </a:r>
            <a:r>
              <a:rPr b="0" spc="-95" dirty="0">
                <a:latin typeface="Tahoma"/>
                <a:cs typeface="Tahoma"/>
              </a:rPr>
              <a:t>r</a:t>
            </a:r>
            <a:r>
              <a:rPr b="0" spc="-635" dirty="0">
                <a:latin typeface="Tahoma"/>
                <a:cs typeface="Tahoma"/>
              </a:rPr>
              <a:t>´</a:t>
            </a:r>
            <a:r>
              <a:rPr b="0" spc="-60" dirty="0">
                <a:latin typeface="Tahoma"/>
                <a:cs typeface="Tahoma"/>
              </a:rPr>
              <a:t>ee</a:t>
            </a:r>
            <a:r>
              <a:rPr b="0" spc="20" dirty="0">
                <a:latin typeface="Tahoma"/>
                <a:cs typeface="Tahoma"/>
              </a:rPr>
              <a:t> </a:t>
            </a:r>
            <a:r>
              <a:rPr b="0" spc="-60" dirty="0">
                <a:latin typeface="Tahoma"/>
                <a:cs typeface="Tahoma"/>
              </a:rPr>
              <a:t>anormale </a:t>
            </a:r>
            <a:r>
              <a:rPr b="0" spc="-25" dirty="0">
                <a:latin typeface="Tahoma"/>
                <a:cs typeface="Tahoma"/>
              </a:rPr>
              <a:t>Niveau</a:t>
            </a:r>
            <a:r>
              <a:rPr b="0" spc="-15" dirty="0">
                <a:latin typeface="Tahoma"/>
                <a:cs typeface="Tahoma"/>
              </a:rPr>
              <a:t> </a:t>
            </a:r>
            <a:r>
              <a:rPr b="0" spc="-35" dirty="0">
                <a:latin typeface="Tahoma"/>
                <a:cs typeface="Tahoma"/>
              </a:rPr>
              <a:t>d’anomalies</a:t>
            </a:r>
            <a:r>
              <a:rPr b="0" spc="-10" dirty="0">
                <a:latin typeface="Tahoma"/>
                <a:cs typeface="Tahoma"/>
              </a:rPr>
              <a:t> global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0020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10233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2026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3029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40330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0110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400" spc="-755" dirty="0">
                <a:solidFill>
                  <a:srgbClr val="FFFFFF"/>
                </a:solidFill>
                <a:latin typeface="Tahoma"/>
                <a:cs typeface="Tahoma"/>
              </a:rPr>
              <a:t>´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etection</a:t>
            </a:r>
            <a:r>
              <a:rPr sz="1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d’Anomalies</a:t>
            </a:r>
            <a:r>
              <a:rPr sz="1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ML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711" y="448013"/>
            <a:ext cx="4934541" cy="23002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90944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3081515"/>
            <a:ext cx="65265" cy="6526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93493" y="3146780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2932" y="2825989"/>
            <a:ext cx="187769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Job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D</a:t>
            </a:r>
            <a:r>
              <a:rPr sz="1100" spc="-605" dirty="0">
                <a:latin typeface="Tahoma"/>
                <a:cs typeface="Tahoma"/>
              </a:rPr>
              <a:t>´</a:t>
            </a:r>
            <a:r>
              <a:rPr sz="1100" spc="-30" dirty="0">
                <a:latin typeface="Tahoma"/>
                <a:cs typeface="Tahoma"/>
              </a:rPr>
              <a:t>etection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</a:t>
            </a:r>
            <a:r>
              <a:rPr sz="1100" spc="-60" dirty="0">
                <a:latin typeface="Tahoma"/>
                <a:cs typeface="Tahoma"/>
              </a:rPr>
              <a:t>u</a:t>
            </a:r>
            <a:r>
              <a:rPr sz="1100" spc="-95" dirty="0">
                <a:latin typeface="Tahoma"/>
                <a:cs typeface="Tahoma"/>
              </a:rPr>
              <a:t>r</a:t>
            </a:r>
            <a:r>
              <a:rPr sz="1100" spc="-640" dirty="0">
                <a:latin typeface="Tahoma"/>
                <a:cs typeface="Tahoma"/>
              </a:rPr>
              <a:t>´</a:t>
            </a:r>
            <a:r>
              <a:rPr sz="1100" spc="-60" dirty="0">
                <a:latin typeface="Tahoma"/>
                <a:cs typeface="Tahoma"/>
              </a:rPr>
              <a:t>ee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anormale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40" dirty="0">
                <a:latin typeface="Arial"/>
                <a:cs typeface="Arial"/>
              </a:rPr>
              <a:t>Fonction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mean(elapsed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M</a:t>
            </a:r>
            <a:r>
              <a:rPr spc="-755" dirty="0"/>
              <a:t>´</a:t>
            </a:r>
            <a:r>
              <a:rPr spc="-30" dirty="0"/>
              <a:t>etriques</a:t>
            </a:r>
            <a:r>
              <a:rPr spc="5" dirty="0"/>
              <a:t> </a:t>
            </a:r>
            <a:r>
              <a:rPr dirty="0"/>
              <a:t>et</a:t>
            </a:r>
            <a:r>
              <a:rPr spc="5" dirty="0"/>
              <a:t> </a:t>
            </a:r>
            <a:r>
              <a:rPr spc="-55" dirty="0"/>
              <a:t>Insights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4886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25890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46893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1678965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9667" y="711616"/>
            <a:ext cx="1631950" cy="10756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lang="en-US" sz="1100" b="1" spc="-55" dirty="0" err="1">
                <a:latin typeface="Arial"/>
                <a:cs typeface="Arial"/>
              </a:rPr>
              <a:t>Métriques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40" dirty="0" err="1">
                <a:latin typeface="Arial"/>
                <a:cs typeface="Arial"/>
              </a:rPr>
              <a:t>Obtenues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 </a:t>
            </a:r>
            <a:r>
              <a:rPr sz="1100" spc="-40" dirty="0">
                <a:latin typeface="Tahoma"/>
                <a:cs typeface="Tahoma"/>
              </a:rPr>
              <a:t>Nombre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</a:t>
            </a:r>
            <a:r>
              <a:rPr sz="1100" spc="-40" dirty="0">
                <a:latin typeface="Tahoma"/>
                <a:cs typeface="Tahoma"/>
              </a:rPr>
              <a:t> builds </a:t>
            </a:r>
            <a:r>
              <a:rPr sz="1100" spc="-20" dirty="0">
                <a:latin typeface="Tahoma"/>
                <a:cs typeface="Tahoma"/>
              </a:rPr>
              <a:t>Taux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suc</a:t>
            </a:r>
            <a:r>
              <a:rPr sz="1100" spc="-95" dirty="0">
                <a:latin typeface="Tahoma"/>
                <a:cs typeface="Tahoma"/>
              </a:rPr>
              <a:t>c</a:t>
            </a:r>
            <a:r>
              <a:rPr sz="1100" spc="-640" dirty="0">
                <a:latin typeface="Tahoma"/>
                <a:cs typeface="Tahoma"/>
              </a:rPr>
              <a:t>`</a:t>
            </a:r>
            <a:r>
              <a:rPr sz="1100" spc="-60" dirty="0">
                <a:latin typeface="Tahoma"/>
                <a:cs typeface="Tahoma"/>
              </a:rPr>
              <a:t>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global </a:t>
            </a:r>
            <a:r>
              <a:rPr sz="1100" spc="-50" dirty="0">
                <a:latin typeface="Tahoma"/>
                <a:cs typeface="Tahoma"/>
              </a:rPr>
              <a:t>Du</a:t>
            </a:r>
            <a:r>
              <a:rPr sz="1100" spc="-85" dirty="0">
                <a:latin typeface="Tahoma"/>
                <a:cs typeface="Tahoma"/>
              </a:rPr>
              <a:t>r</a:t>
            </a:r>
            <a:r>
              <a:rPr sz="1100" spc="-625" dirty="0">
                <a:latin typeface="Tahoma"/>
                <a:cs typeface="Tahoma"/>
              </a:rPr>
              <a:t>´</a:t>
            </a:r>
            <a:r>
              <a:rPr sz="1100" spc="-50" dirty="0">
                <a:latin typeface="Tahoma"/>
                <a:cs typeface="Tahoma"/>
              </a:rPr>
              <a:t>ees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moyennes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erreurs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103540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8726" y="124543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68726" y="1455470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68726" y="1665503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13481" y="698142"/>
            <a:ext cx="1634489" cy="10756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sz="1100" b="1" spc="-45" dirty="0">
                <a:latin typeface="Arial"/>
                <a:cs typeface="Arial"/>
              </a:rPr>
              <a:t>Insights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lang="en-US" sz="1100" b="1" spc="-65" dirty="0" err="1">
                <a:latin typeface="Arial"/>
                <a:cs typeface="Arial"/>
              </a:rPr>
              <a:t>Opérationnels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 </a:t>
            </a:r>
            <a:r>
              <a:rPr sz="1100" spc="-30" dirty="0">
                <a:latin typeface="Tahoma"/>
                <a:cs typeface="Tahoma"/>
              </a:rPr>
              <a:t>Steps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60" dirty="0">
                <a:latin typeface="Tahoma"/>
                <a:cs typeface="Tahoma"/>
              </a:rPr>
              <a:t>`</a:t>
            </a:r>
            <a:r>
              <a:rPr sz="1100" spc="-60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optimiser </a:t>
            </a:r>
            <a:r>
              <a:rPr sz="1100" spc="-20" dirty="0">
                <a:latin typeface="Tahoma"/>
                <a:cs typeface="Tahoma"/>
              </a:rPr>
              <a:t>Patterns</a:t>
            </a:r>
            <a:r>
              <a:rPr sz="1100" spc="-10" dirty="0">
                <a:latin typeface="Tahoma"/>
                <a:cs typeface="Tahoma"/>
              </a:rPr>
              <a:t> d’erreurs </a:t>
            </a:r>
            <a:r>
              <a:rPr sz="1100" spc="-25" dirty="0">
                <a:latin typeface="Tahoma"/>
                <a:cs typeface="Tahoma"/>
              </a:rPr>
              <a:t>Variations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performance </a:t>
            </a:r>
            <a:r>
              <a:rPr sz="1100" spc="-30" dirty="0">
                <a:latin typeface="Tahoma"/>
                <a:cs typeface="Tahoma"/>
              </a:rPr>
              <a:t>Anomalies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critiques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2340" y="2191726"/>
            <a:ext cx="40754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latin typeface="Arial"/>
                <a:cs typeface="Arial"/>
              </a:rPr>
              <a:t>Solution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70" dirty="0">
                <a:latin typeface="Arial"/>
                <a:cs typeface="Arial"/>
              </a:rPr>
              <a:t>compl`ete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pour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monitoring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et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analyse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des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builds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Firefox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Technologies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5695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26699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47702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1687055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9667" y="719693"/>
            <a:ext cx="123952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Stack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ELK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8.11.0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 marR="203200">
              <a:lnSpc>
                <a:spcPct val="125299"/>
              </a:lnSpc>
            </a:pPr>
            <a:r>
              <a:rPr sz="1100" spc="-40" dirty="0">
                <a:latin typeface="Tahoma"/>
                <a:cs typeface="Tahoma"/>
              </a:rPr>
              <a:t>Elasticsearch </a:t>
            </a:r>
            <a:r>
              <a:rPr sz="1100" spc="-10" dirty="0">
                <a:latin typeface="Tahoma"/>
                <a:cs typeface="Tahoma"/>
              </a:rPr>
              <a:t>Logstash Kibana Filebeat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8726" y="1056957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8726" y="126699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68726" y="1477022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68726" y="1687055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13481" y="719693"/>
            <a:ext cx="1425575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25" dirty="0">
                <a:latin typeface="Arial"/>
                <a:cs typeface="Arial"/>
              </a:rPr>
              <a:t>Infrastructure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Tahoma"/>
                <a:cs typeface="Tahoma"/>
              </a:rPr>
              <a:t>Docker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spc="-25" dirty="0">
                <a:latin typeface="Tahoma"/>
                <a:cs typeface="Tahoma"/>
              </a:rPr>
              <a:t>Docker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Compose Machine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 </a:t>
            </a:r>
            <a:r>
              <a:rPr sz="1100" dirty="0">
                <a:latin typeface="Tahoma"/>
                <a:cs typeface="Tahoma"/>
              </a:rPr>
              <a:t>Allocation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2.6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19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5895" y="2186341"/>
            <a:ext cx="3068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3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Dashboards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95" dirty="0">
                <a:latin typeface="Arial"/>
                <a:cs typeface="Arial"/>
              </a:rPr>
              <a:t>—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16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Visualisations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spc="95" dirty="0">
                <a:latin typeface="Arial"/>
                <a:cs typeface="Arial"/>
              </a:rPr>
              <a:t>—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Job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ML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6841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7844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8847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39851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608543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0860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41863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628671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2838703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844" y="431149"/>
            <a:ext cx="2959100" cy="2515870"/>
          </a:xfrm>
          <a:prstGeom prst="rect">
            <a:avLst/>
          </a:prstGeom>
        </p:spPr>
        <p:txBody>
          <a:bodyPr vert="horz" wrap="square" lIns="0" tIns="5524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100" b="1" spc="-75" dirty="0" err="1">
                <a:latin typeface="Arial"/>
                <a:cs typeface="Arial"/>
              </a:rPr>
              <a:t>Réalisations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 marR="692150">
              <a:lnSpc>
                <a:spcPct val="125299"/>
              </a:lnSpc>
            </a:pPr>
            <a:r>
              <a:rPr sz="1100" spc="-10" dirty="0">
                <a:latin typeface="Tahoma"/>
                <a:cs typeface="Tahoma"/>
              </a:rPr>
              <a:t>Pipeline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d’ingestion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automati</a:t>
            </a:r>
            <a:r>
              <a:rPr sz="1100" spc="10" dirty="0">
                <a:latin typeface="Tahoma"/>
                <a:cs typeface="Tahoma"/>
              </a:rPr>
              <a:t>s</a:t>
            </a:r>
            <a:r>
              <a:rPr sz="1100" spc="-535" dirty="0">
                <a:latin typeface="Tahoma"/>
                <a:cs typeface="Tahoma"/>
              </a:rPr>
              <a:t>´</a:t>
            </a:r>
            <a:r>
              <a:rPr sz="1100" spc="45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Parsing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enrichissement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logs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Indexation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optimi</a:t>
            </a:r>
            <a:r>
              <a:rPr sz="1100" spc="-80" dirty="0">
                <a:latin typeface="Tahoma"/>
                <a:cs typeface="Tahoma"/>
              </a:rPr>
              <a:t>s</a:t>
            </a:r>
            <a:r>
              <a:rPr sz="1100" spc="-625" dirty="0">
                <a:latin typeface="Tahoma"/>
                <a:cs typeface="Tahoma"/>
              </a:rPr>
              <a:t>´</a:t>
            </a:r>
            <a:r>
              <a:rPr sz="1100" spc="-45" dirty="0">
                <a:latin typeface="Tahoma"/>
                <a:cs typeface="Tahoma"/>
              </a:rPr>
              <a:t>ee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dans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Elasticsearch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3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dashboards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interactifs </a:t>
            </a:r>
            <a:r>
              <a:rPr sz="1100" spc="-45" dirty="0">
                <a:latin typeface="Tahoma"/>
                <a:cs typeface="Tahoma"/>
              </a:rPr>
              <a:t>avec</a:t>
            </a:r>
            <a:r>
              <a:rPr sz="1100" spc="-20" dirty="0">
                <a:latin typeface="Tahoma"/>
                <a:cs typeface="Tahoma"/>
              </a:rPr>
              <a:t> 16 </a:t>
            </a:r>
            <a:r>
              <a:rPr sz="1100" spc="-35" dirty="0">
                <a:latin typeface="Tahoma"/>
                <a:cs typeface="Tahoma"/>
              </a:rPr>
              <a:t>visualisations </a:t>
            </a:r>
            <a:r>
              <a:rPr sz="1100" spc="-65" dirty="0">
                <a:latin typeface="Tahoma"/>
                <a:cs typeface="Tahoma"/>
              </a:rPr>
              <a:t>D</a:t>
            </a:r>
            <a:r>
              <a:rPr sz="1100" spc="-605" dirty="0">
                <a:latin typeface="Tahoma"/>
                <a:cs typeface="Tahoma"/>
              </a:rPr>
              <a:t>´</a:t>
            </a:r>
            <a:r>
              <a:rPr sz="1100" spc="-30" dirty="0">
                <a:latin typeface="Tahoma"/>
                <a:cs typeface="Tahoma"/>
              </a:rPr>
              <a:t>etection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d’anomalies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avec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Machine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50" dirty="0">
                <a:latin typeface="Arial"/>
                <a:cs typeface="Arial"/>
              </a:rPr>
              <a:t>Perspectives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 marR="570865">
              <a:lnSpc>
                <a:spcPct val="125299"/>
              </a:lnSpc>
            </a:pPr>
            <a:r>
              <a:rPr sz="1100" spc="-35" dirty="0">
                <a:latin typeface="Tahoma"/>
                <a:cs typeface="Tahoma"/>
              </a:rPr>
              <a:t>Extension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60" dirty="0">
                <a:latin typeface="Tahoma"/>
                <a:cs typeface="Tahoma"/>
              </a:rPr>
              <a:t>`</a:t>
            </a:r>
            <a:r>
              <a:rPr sz="1100" spc="-60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d’autres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sources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logs </a:t>
            </a:r>
            <a:r>
              <a:rPr sz="1100" spc="-20" dirty="0">
                <a:latin typeface="Tahoma"/>
                <a:cs typeface="Tahoma"/>
              </a:rPr>
              <a:t>Alertes</a:t>
            </a:r>
            <a:r>
              <a:rPr sz="1100" spc="-35" dirty="0">
                <a:latin typeface="Tahoma"/>
                <a:cs typeface="Tahoma"/>
              </a:rPr>
              <a:t> automatiques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avan</a:t>
            </a:r>
            <a:r>
              <a:rPr sz="1100" spc="15" dirty="0">
                <a:latin typeface="Tahoma"/>
                <a:cs typeface="Tahoma"/>
              </a:rPr>
              <a:t>c</a:t>
            </a:r>
            <a:r>
              <a:rPr sz="1100" spc="-520" dirty="0">
                <a:latin typeface="Tahoma"/>
                <a:cs typeface="Tahoma"/>
              </a:rPr>
              <a:t>´</a:t>
            </a:r>
            <a:r>
              <a:rPr sz="1100" spc="55" dirty="0">
                <a:latin typeface="Tahoma"/>
                <a:cs typeface="Tahoma"/>
              </a:rPr>
              <a:t>ees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Analyses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pr</a:t>
            </a:r>
            <a:r>
              <a:rPr sz="1100" spc="-535" dirty="0">
                <a:latin typeface="Tahoma"/>
                <a:cs typeface="Tahoma"/>
              </a:rPr>
              <a:t>´</a:t>
            </a:r>
            <a:r>
              <a:rPr sz="1100" spc="40" dirty="0">
                <a:latin typeface="Tahoma"/>
                <a:cs typeface="Tahoma"/>
              </a:rPr>
              <a:t>edictives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In</a:t>
            </a:r>
            <a:r>
              <a:rPr sz="1100" spc="-85" dirty="0">
                <a:latin typeface="Tahoma"/>
                <a:cs typeface="Tahoma"/>
              </a:rPr>
              <a:t>t</a:t>
            </a:r>
            <a:r>
              <a:rPr sz="1100" spc="-620" dirty="0">
                <a:latin typeface="Tahoma"/>
                <a:cs typeface="Tahoma"/>
              </a:rPr>
              <a:t>´</a:t>
            </a:r>
            <a:r>
              <a:rPr sz="1100" spc="-45" dirty="0">
                <a:latin typeface="Tahoma"/>
                <a:cs typeface="Tahoma"/>
              </a:rPr>
              <a:t>egration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CI/CD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Merci</a:t>
            </a:r>
            <a:r>
              <a:rPr sz="2450" b="1" spc="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00000"/>
                </a:solidFill>
                <a:latin typeface="Arial"/>
                <a:cs typeface="Arial"/>
              </a:rPr>
              <a:t>pour</a:t>
            </a:r>
            <a:r>
              <a:rPr sz="2450" b="1" spc="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votre</a:t>
            </a:r>
            <a:r>
              <a:rPr sz="2450" b="1" spc="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00000"/>
                </a:solidFill>
                <a:latin typeface="Arial"/>
                <a:cs typeface="Arial"/>
              </a:rPr>
              <a:t>attention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47175" y="1848406"/>
            <a:ext cx="8655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Tahoma"/>
                <a:cs typeface="Tahoma"/>
              </a:rPr>
              <a:t>Questions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?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346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Annexe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sz="1400" spc="-745" dirty="0">
                <a:solidFill>
                  <a:srgbClr val="FFFFFF"/>
                </a:solidFill>
                <a:latin typeface="Tahoma"/>
                <a:cs typeface="Tahoma"/>
              </a:rPr>
              <a:t>´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etail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400" spc="-745" dirty="0">
                <a:solidFill>
                  <a:srgbClr val="FFFFFF"/>
                </a:solidFill>
                <a:latin typeface="Tahoma"/>
                <a:cs typeface="Tahoma"/>
              </a:rPr>
              <a:t>´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ee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267" y="530698"/>
            <a:ext cx="2741568" cy="24094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Annexe</a:t>
            </a:r>
            <a:r>
              <a:rPr spc="-55" dirty="0"/>
              <a:t> </a:t>
            </a:r>
            <a:r>
              <a:rPr dirty="0"/>
              <a:t>:</a:t>
            </a:r>
            <a:r>
              <a:rPr spc="-50" dirty="0"/>
              <a:t> </a:t>
            </a:r>
            <a:r>
              <a:rPr spc="-30" dirty="0"/>
              <a:t>Configuration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9414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9827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0239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2060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2473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28862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54708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751213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2955340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844" y="366735"/>
            <a:ext cx="2151380" cy="269684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b="1" spc="-10" dirty="0">
                <a:latin typeface="Arial"/>
                <a:cs typeface="Arial"/>
              </a:rPr>
              <a:t>Filebeat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95"/>
              </a:spcBef>
            </a:pPr>
            <a:r>
              <a:rPr sz="1100" spc="-35" dirty="0">
                <a:latin typeface="Tahoma"/>
                <a:cs typeface="Tahoma"/>
              </a:rPr>
              <a:t>Surveillance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125" dirty="0">
                <a:latin typeface="Calibri"/>
                <a:cs typeface="Calibri"/>
              </a:rPr>
              <a:t>logs/log-</a:t>
            </a:r>
            <a:r>
              <a:rPr sz="1100" spc="120" dirty="0">
                <a:latin typeface="Calibri"/>
                <a:cs typeface="Calibri"/>
              </a:rPr>
              <a:t>*/</a:t>
            </a:r>
            <a:endParaRPr sz="1100">
              <a:latin typeface="Calibri"/>
              <a:cs typeface="Calibri"/>
            </a:endParaRPr>
          </a:p>
          <a:p>
            <a:pPr marL="289560" marR="797560">
              <a:lnSpc>
                <a:spcPct val="121800"/>
              </a:lnSpc>
            </a:pPr>
            <a:r>
              <a:rPr sz="1100" spc="-10" dirty="0">
                <a:latin typeface="Tahoma"/>
                <a:cs typeface="Tahoma"/>
              </a:rPr>
              <a:t>Multi-</a:t>
            </a:r>
            <a:r>
              <a:rPr sz="1100" dirty="0">
                <a:latin typeface="Tahoma"/>
                <a:cs typeface="Tahoma"/>
              </a:rPr>
              <a:t>line</a:t>
            </a:r>
            <a:r>
              <a:rPr sz="1100" spc="-10" dirty="0">
                <a:latin typeface="Tahoma"/>
                <a:cs typeface="Tahoma"/>
              </a:rPr>
              <a:t> parsing </a:t>
            </a:r>
            <a:r>
              <a:rPr sz="1100" dirty="0">
                <a:latin typeface="Tahoma"/>
                <a:cs typeface="Tahoma"/>
              </a:rPr>
              <a:t>Output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Logstash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spc="-60" dirty="0">
                <a:latin typeface="Arial"/>
                <a:cs typeface="Arial"/>
              </a:rPr>
              <a:t>Logstash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 marR="407034">
              <a:lnSpc>
                <a:spcPct val="121800"/>
              </a:lnSpc>
              <a:spcBef>
                <a:spcPts val="10"/>
              </a:spcBef>
            </a:pPr>
            <a:r>
              <a:rPr sz="1100" spc="-10" dirty="0">
                <a:latin typeface="Tahoma"/>
                <a:cs typeface="Tahoma"/>
              </a:rPr>
              <a:t>Filtres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Grok </a:t>
            </a:r>
            <a:r>
              <a:rPr sz="1100" spc="-35" dirty="0">
                <a:latin typeface="Tahoma"/>
                <a:cs typeface="Tahoma"/>
              </a:rPr>
              <a:t>Enrichissement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avec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tags </a:t>
            </a:r>
            <a:r>
              <a:rPr sz="1100" dirty="0">
                <a:latin typeface="Tahoma"/>
                <a:cs typeface="Tahoma"/>
              </a:rPr>
              <a:t>Output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Elasticsearch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spc="-55" dirty="0">
                <a:latin typeface="Arial"/>
                <a:cs typeface="Arial"/>
              </a:rPr>
              <a:t>Elasticsearch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95"/>
              </a:spcBef>
            </a:pPr>
            <a:r>
              <a:rPr sz="1100" spc="-70" dirty="0">
                <a:latin typeface="Tahoma"/>
                <a:cs typeface="Tahoma"/>
              </a:rPr>
              <a:t>Index</a:t>
            </a:r>
            <a:r>
              <a:rPr sz="1100" spc="-20" dirty="0">
                <a:latin typeface="Tahoma"/>
                <a:cs typeface="Tahoma"/>
              </a:rPr>
              <a:t> pattern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140" dirty="0">
                <a:latin typeface="Calibri"/>
                <a:cs typeface="Calibri"/>
              </a:rPr>
              <a:t>firefox-</a:t>
            </a:r>
            <a:r>
              <a:rPr sz="1100" spc="145" dirty="0">
                <a:latin typeface="Calibri"/>
                <a:cs typeface="Calibri"/>
              </a:rPr>
              <a:t>log-</a:t>
            </a:r>
            <a:r>
              <a:rPr sz="1100" spc="140" dirty="0">
                <a:latin typeface="Calibri"/>
                <a:cs typeface="Calibri"/>
              </a:rPr>
              <a:t>*</a:t>
            </a:r>
            <a:endParaRPr sz="1100">
              <a:latin typeface="Calibri"/>
              <a:cs typeface="Calibri"/>
            </a:endParaRPr>
          </a:p>
          <a:p>
            <a:pPr marL="289560" marR="255904">
              <a:lnSpc>
                <a:spcPct val="121800"/>
              </a:lnSpc>
            </a:pPr>
            <a:r>
              <a:rPr sz="1100" spc="-20" dirty="0">
                <a:latin typeface="Tahoma"/>
                <a:cs typeface="Tahoma"/>
              </a:rPr>
              <a:t>Mapping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p</a:t>
            </a:r>
            <a:r>
              <a:rPr sz="1100" spc="20" dirty="0">
                <a:latin typeface="Tahoma"/>
                <a:cs typeface="Tahoma"/>
              </a:rPr>
              <a:t>ersonnali</a:t>
            </a:r>
            <a:r>
              <a:rPr sz="1100" spc="-20" dirty="0">
                <a:latin typeface="Tahoma"/>
                <a:cs typeface="Tahoma"/>
              </a:rPr>
              <a:t>s</a:t>
            </a:r>
            <a:r>
              <a:rPr sz="1100" spc="-555" dirty="0">
                <a:latin typeface="Tahoma"/>
                <a:cs typeface="Tahoma"/>
              </a:rPr>
              <a:t>´</a:t>
            </a:r>
            <a:r>
              <a:rPr sz="1100" spc="20" dirty="0">
                <a:latin typeface="Tahoma"/>
                <a:cs typeface="Tahoma"/>
              </a:rPr>
              <a:t>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Optimi</a:t>
            </a:r>
            <a:r>
              <a:rPr sz="1100" spc="-60" dirty="0">
                <a:latin typeface="Tahoma"/>
                <a:cs typeface="Tahoma"/>
              </a:rPr>
              <a:t>s</a:t>
            </a:r>
            <a:r>
              <a:rPr sz="1100" spc="-595" dirty="0">
                <a:latin typeface="Tahoma"/>
                <a:cs typeface="Tahoma"/>
              </a:rPr>
              <a:t>´</a:t>
            </a:r>
            <a:r>
              <a:rPr sz="1100" spc="-20" dirty="0">
                <a:latin typeface="Tahoma"/>
                <a:cs typeface="Tahoma"/>
              </a:rPr>
              <a:t>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pour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aggregations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23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Plan de la Pr´esentation</vt:lpstr>
      <vt:lpstr>Contexte</vt:lpstr>
      <vt:lpstr>PowerPoint Presentation</vt:lpstr>
      <vt:lpstr>Composants</vt:lpstr>
      <vt:lpstr>PowerPoint Presentation</vt:lpstr>
      <vt:lpstr>Mapping Elasticsearch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2 : Performance (fin)</vt:lpstr>
      <vt:lpstr>PowerPoint Presentation</vt:lpstr>
      <vt:lpstr>PowerPoint Presentation</vt:lpstr>
      <vt:lpstr>Dashboard 3 : R´esum´e</vt:lpstr>
      <vt:lpstr>PowerPoint Presentation</vt:lpstr>
      <vt:lpstr>M´etriques et Insights</vt:lpstr>
      <vt:lpstr>Technologies</vt:lpstr>
      <vt:lpstr>Conclusion</vt:lpstr>
      <vt:lpstr>Merci pour votre attention</vt:lpstr>
      <vt:lpstr>PowerPoint Presentation</vt:lpstr>
      <vt:lpstr>Annexe : Configuration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et Visualisation des Logs Firefox - Utilisation de la Stack ELK</dc:title>
  <dc:creator>OUHNI Kamal, MONCIF Mouad</dc:creator>
  <cp:revision>27</cp:revision>
  <dcterms:created xsi:type="dcterms:W3CDTF">2025-11-10T19:33:15Z</dcterms:created>
  <dcterms:modified xsi:type="dcterms:W3CDTF">2025-11-10T19:42:20Z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2025-11-10T00:00:00Z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